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451"/>
    <p:restoredTop sz="94168"/>
  </p:normalViewPr>
  <p:slideViewPr>
    <p:cSldViewPr snapToGrid="0" snapToObjects="1">
      <p:cViewPr varScale="1">
        <p:scale>
          <a:sx n="61" d="100"/>
          <a:sy n="61" d="100"/>
        </p:scale>
        <p:origin x="224" y="4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AF6FDE-3FD1-5A4D-9DB0-B2F9AD0110FE}" type="datetimeFigureOut">
              <a:rPr lang="en-US" smtClean="0"/>
              <a:t>10/28/26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EA25F4-154D-E24A-AF98-82B32EF0578E}" type="slidenum">
              <a:rPr lang="en-US" smtClean="0"/>
              <a:t>‹#›</a:t>
            </a:fld>
            <a:endParaRPr lang="en-US"/>
          </a:p>
        </p:txBody>
      </p:sp>
    </p:spTree>
    <p:extLst>
      <p:ext uri="{BB962C8B-B14F-4D97-AF65-F5344CB8AC3E}">
        <p14:creationId xmlns:p14="http://schemas.microsoft.com/office/powerpoint/2010/main" val="2885618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EA25F4-154D-E24A-AF98-82B32EF0578E}" type="slidenum">
              <a:rPr lang="en-US" smtClean="0"/>
              <a:t>2</a:t>
            </a:fld>
            <a:endParaRPr lang="en-US"/>
          </a:p>
        </p:txBody>
      </p:sp>
    </p:spTree>
    <p:extLst>
      <p:ext uri="{BB962C8B-B14F-4D97-AF65-F5344CB8AC3E}">
        <p14:creationId xmlns:p14="http://schemas.microsoft.com/office/powerpoint/2010/main" val="2433027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EA25F4-154D-E24A-AF98-82B32EF0578E}" type="slidenum">
              <a:rPr lang="en-US" smtClean="0"/>
              <a:t>13</a:t>
            </a:fld>
            <a:endParaRPr lang="en-US"/>
          </a:p>
        </p:txBody>
      </p:sp>
    </p:spTree>
    <p:extLst>
      <p:ext uri="{BB962C8B-B14F-4D97-AF65-F5344CB8AC3E}">
        <p14:creationId xmlns:p14="http://schemas.microsoft.com/office/powerpoint/2010/main" val="27270112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223E"/>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82880"/>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955279" y="182880"/>
            <a:ext cx="4236415" cy="6675120"/>
          </a:xfrm>
          <a:prstGeom prst="rect">
            <a:avLst/>
          </a:prstGeom>
          <a:solidFill>
            <a:srgbClr val="173052"/>
          </a:solidFill>
          <a:ln>
            <a:solidFill>
              <a:srgbClr val="1730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731520"/>
            <a:ext cx="6400800" cy="320040"/>
          </a:xfrm>
          <a:prstGeom prst="rect">
            <a:avLst/>
          </a:prstGeom>
          <a:noFill/>
        </p:spPr>
        <p:txBody>
          <a:bodyPr wrap="square" lIns="54864" tIns="27432" rIns="54864">
            <a:spAutoFit/>
          </a:bodyPr>
          <a:lstStyle/>
          <a:p>
            <a:pPr algn="l"/>
            <a:r>
              <a:rPr sz="1200" b="1">
                <a:solidFill>
                  <a:srgbClr val="5EEAD4"/>
                </a:solidFill>
                <a:latin typeface="Aptos"/>
              </a:rPr>
              <a:t>BCSE308L / BCSE308P • COMPUTER NETWORKS</a:t>
            </a:r>
          </a:p>
        </p:txBody>
      </p:sp>
      <p:sp>
        <p:nvSpPr>
          <p:cNvPr id="5" name="TextBox 4"/>
          <p:cNvSpPr txBox="1"/>
          <p:nvPr/>
        </p:nvSpPr>
        <p:spPr>
          <a:xfrm>
            <a:off x="731520" y="1508760"/>
            <a:ext cx="6675120" cy="1143000"/>
          </a:xfrm>
          <a:prstGeom prst="rect">
            <a:avLst/>
          </a:prstGeom>
          <a:noFill/>
        </p:spPr>
        <p:txBody>
          <a:bodyPr wrap="square" lIns="54864" tIns="27432" rIns="54864">
            <a:spAutoFit/>
          </a:bodyPr>
          <a:lstStyle/>
          <a:p>
            <a:pPr algn="l"/>
            <a:r>
              <a:rPr sz="3400" b="1">
                <a:solidFill>
                  <a:srgbClr val="FFFFFF"/>
                </a:solidFill>
                <a:latin typeface="Aptos"/>
              </a:rPr>
              <a:t>FINAL COURSE
PROJECT REVIEW</a:t>
            </a:r>
          </a:p>
        </p:txBody>
      </p:sp>
      <p:sp>
        <p:nvSpPr>
          <p:cNvPr id="6" name="TextBox 5"/>
          <p:cNvSpPr txBox="1"/>
          <p:nvPr/>
        </p:nvSpPr>
        <p:spPr>
          <a:xfrm>
            <a:off x="749808" y="2880360"/>
            <a:ext cx="6309360" cy="548640"/>
          </a:xfrm>
          <a:prstGeom prst="rect">
            <a:avLst/>
          </a:prstGeom>
          <a:noFill/>
        </p:spPr>
        <p:txBody>
          <a:bodyPr wrap="square" lIns="54864" tIns="27432" rIns="54864">
            <a:spAutoFit/>
          </a:bodyPr>
          <a:lstStyle/>
          <a:p>
            <a:pPr algn="l"/>
            <a:r>
              <a:rPr sz="1800" b="1">
                <a:solidFill>
                  <a:srgbClr val="BFDBFE"/>
                </a:solidFill>
                <a:latin typeface="Aptos"/>
              </a:rPr>
              <a:t>Predictive vs. Reactive Load Balancing in SDN: An Empirical Study under Flash-Crowd Traffic</a:t>
            </a:r>
          </a:p>
        </p:txBody>
      </p:sp>
      <p:sp>
        <p:nvSpPr>
          <p:cNvPr id="7" name="TextBox 6"/>
          <p:cNvSpPr txBox="1"/>
          <p:nvPr/>
        </p:nvSpPr>
        <p:spPr>
          <a:xfrm>
            <a:off x="749808" y="3703320"/>
            <a:ext cx="6217920" cy="1371600"/>
          </a:xfrm>
          <a:prstGeom prst="rect">
            <a:avLst/>
          </a:prstGeom>
          <a:noFill/>
        </p:spPr>
        <p:txBody>
          <a:bodyPr wrap="square" lIns="54864" tIns="27432" rIns="54864">
            <a:spAutoFit/>
          </a:bodyPr>
          <a:lstStyle/>
          <a:p>
            <a:pPr algn="l"/>
            <a:r>
              <a:rPr sz="1500" b="0">
                <a:solidFill>
                  <a:srgbClr val="FFFFFF"/>
                </a:solidFill>
                <a:latin typeface="Aptos"/>
              </a:rPr>
              <a:t>Team ID: single-member project</a:t>
            </a:r>
          </a:p>
          <a:p>
            <a:pPr algn="l"/>
            <a:r>
              <a:rPr sz="1500" b="0">
                <a:solidFill>
                  <a:srgbClr val="FFFFFF"/>
                </a:solidFill>
                <a:latin typeface="Aptos"/>
              </a:rPr>
              <a:t>Team member &amp; register number: Fida M S  —  24BAI0180</a:t>
            </a:r>
          </a:p>
          <a:p>
            <a:pPr algn="l"/>
            <a:r>
              <a:rPr sz="1500" b="0">
                <a:solidFill>
                  <a:srgbClr val="FFFFFF"/>
                </a:solidFill>
                <a:latin typeface="Aptos"/>
              </a:rPr>
              <a:t>Programme: B.Tech CSE (AI &amp; ML), SCOPE</a:t>
            </a:r>
          </a:p>
          <a:p>
            <a:pPr algn="l"/>
            <a:r>
              <a:rPr sz="1500" b="0">
                <a:solidFill>
                  <a:srgbClr val="FFFFFF"/>
                </a:solidFill>
                <a:latin typeface="Aptos"/>
              </a:rPr>
              <a:t>Faculty mentor: Prof. Yoganand S</a:t>
            </a:r>
          </a:p>
          <a:p>
            <a:pPr algn="l"/>
            <a:r>
              <a:rPr sz="1500" b="0">
                <a:solidFill>
                  <a:srgbClr val="FFFFFF"/>
                </a:solidFill>
                <a:latin typeface="Aptos"/>
              </a:rPr>
              <a:t>Review date: 28 October 2026</a:t>
            </a:r>
          </a:p>
        </p:txBody>
      </p:sp>
      <p:cxnSp>
        <p:nvCxnSpPr>
          <p:cNvPr id="8" name="Connector 7"/>
          <p:cNvCxnSpPr/>
          <p:nvPr/>
        </p:nvCxnSpPr>
        <p:spPr>
          <a:xfrm>
            <a:off x="8714232" y="1261872"/>
            <a:ext cx="1828800" cy="502920"/>
          </a:xfrm>
          <a:prstGeom prst="line">
            <a:avLst/>
          </a:prstGeom>
          <a:ln w="25400">
            <a:solidFill>
              <a:srgbClr val="47709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8714232" y="1261872"/>
            <a:ext cx="731520" cy="1600200"/>
          </a:xfrm>
          <a:prstGeom prst="line">
            <a:avLst/>
          </a:prstGeom>
          <a:ln w="25400">
            <a:solidFill>
              <a:srgbClr val="47709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9445752" y="1764792"/>
            <a:ext cx="1097280" cy="1097280"/>
          </a:xfrm>
          <a:prstGeom prst="line">
            <a:avLst/>
          </a:prstGeom>
          <a:ln w="25400">
            <a:solidFill>
              <a:srgbClr val="47709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0543032" y="1764792"/>
            <a:ext cx="640080" cy="1554480"/>
          </a:xfrm>
          <a:prstGeom prst="line">
            <a:avLst/>
          </a:prstGeom>
          <a:ln w="25400">
            <a:solidFill>
              <a:srgbClr val="47709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445752" y="2862072"/>
            <a:ext cx="1737360" cy="457200"/>
          </a:xfrm>
          <a:prstGeom prst="line">
            <a:avLst/>
          </a:prstGeom>
          <a:ln w="25400">
            <a:solidFill>
              <a:srgbClr val="47709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8805672" y="2862072"/>
            <a:ext cx="640080" cy="1463040"/>
          </a:xfrm>
          <a:prstGeom prst="line">
            <a:avLst/>
          </a:prstGeom>
          <a:ln w="25400">
            <a:solidFill>
              <a:srgbClr val="47709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805672" y="4325112"/>
            <a:ext cx="1828800" cy="822960"/>
          </a:xfrm>
          <a:prstGeom prst="line">
            <a:avLst/>
          </a:prstGeom>
          <a:ln w="25400">
            <a:solidFill>
              <a:srgbClr val="47709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10634472" y="3319272"/>
            <a:ext cx="548640" cy="1828800"/>
          </a:xfrm>
          <a:prstGeom prst="line">
            <a:avLst/>
          </a:prstGeom>
          <a:ln w="25400">
            <a:solidFill>
              <a:srgbClr val="47709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634472" y="5148072"/>
            <a:ext cx="822960" cy="731520"/>
          </a:xfrm>
          <a:prstGeom prst="line">
            <a:avLst/>
          </a:prstGeom>
          <a:ln w="25400">
            <a:solidFill>
              <a:srgbClr val="47709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183112" y="3319272"/>
            <a:ext cx="274320" cy="2560320"/>
          </a:xfrm>
          <a:prstGeom prst="line">
            <a:avLst/>
          </a:prstGeom>
          <a:ln w="25400">
            <a:solidFill>
              <a:srgbClr val="47709D"/>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8595360" y="1143000"/>
            <a:ext cx="256032" cy="256032"/>
          </a:xfrm>
          <a:prstGeom prst="ellipse">
            <a:avLst/>
          </a:prstGeom>
          <a:solidFill>
            <a:srgbClr val="0D948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0424160" y="1645920"/>
            <a:ext cx="256032" cy="256032"/>
          </a:xfrm>
          <a:prstGeom prst="ellipse">
            <a:avLst/>
          </a:prstGeom>
          <a:solidFill>
            <a:srgbClr val="2563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9326880" y="2743200"/>
            <a:ext cx="256032" cy="256032"/>
          </a:xfrm>
          <a:prstGeom prst="ellipse">
            <a:avLst/>
          </a:prstGeom>
          <a:solidFill>
            <a:srgbClr val="0D948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1064240" y="3200400"/>
            <a:ext cx="256032" cy="256032"/>
          </a:xfrm>
          <a:prstGeom prst="ellipse">
            <a:avLst/>
          </a:prstGeom>
          <a:solidFill>
            <a:srgbClr val="2563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686800" y="4206240"/>
            <a:ext cx="256032" cy="256032"/>
          </a:xfrm>
          <a:prstGeom prst="ellipse">
            <a:avLst/>
          </a:prstGeom>
          <a:solidFill>
            <a:srgbClr val="0D948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0515600" y="5029200"/>
            <a:ext cx="256032" cy="256032"/>
          </a:xfrm>
          <a:prstGeom prst="ellipse">
            <a:avLst/>
          </a:prstGeom>
          <a:solidFill>
            <a:srgbClr val="2563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1338560" y="5760720"/>
            <a:ext cx="256032" cy="256032"/>
          </a:xfrm>
          <a:prstGeom prst="ellipse">
            <a:avLst/>
          </a:prstGeom>
          <a:solidFill>
            <a:srgbClr val="0D948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49808" y="6309360"/>
            <a:ext cx="7315200" cy="228600"/>
          </a:xfrm>
          <a:prstGeom prst="rect">
            <a:avLst/>
          </a:prstGeom>
          <a:noFill/>
        </p:spPr>
        <p:txBody>
          <a:bodyPr wrap="square" lIns="54864" tIns="27432" rIns="54864">
            <a:spAutoFit/>
          </a:bodyPr>
          <a:lstStyle/>
          <a:p>
            <a:pPr algn="l"/>
            <a:r>
              <a:rPr sz="900" b="0">
                <a:solidFill>
                  <a:srgbClr val="CBD5E1"/>
                </a:solidFill>
                <a:latin typeface="Aptos"/>
              </a:rPr>
              <a:t>SDN load balancing  •  Mininet / Ryu / OpenFlow 1.3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58368"/>
            <a:ext cx="11155680" cy="502920"/>
          </a:xfrm>
          <a:prstGeom prst="rect">
            <a:avLst/>
          </a:prstGeom>
          <a:noFill/>
        </p:spPr>
        <p:txBody>
          <a:bodyPr wrap="square" lIns="54864" tIns="27432" rIns="54864">
            <a:spAutoFit/>
          </a:bodyPr>
          <a:lstStyle/>
          <a:p>
            <a:pPr algn="l"/>
            <a:r>
              <a:rPr sz="2600" b="1">
                <a:solidFill>
                  <a:srgbClr val="12223E"/>
                </a:solidFill>
                <a:latin typeface="Aptos"/>
              </a:rPr>
              <a:t>Project snapshot</a:t>
            </a:r>
          </a:p>
        </p:txBody>
      </p:sp>
      <p:sp>
        <p:nvSpPr>
          <p:cNvPr id="5" name="Rectangle 4"/>
          <p:cNvSpPr/>
          <p:nvPr/>
        </p:nvSpPr>
        <p:spPr>
          <a:xfrm>
            <a:off x="502920" y="1261872"/>
            <a:ext cx="11155680"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064240" y="6510528"/>
            <a:ext cx="548640" cy="182880"/>
          </a:xfrm>
          <a:prstGeom prst="rect">
            <a:avLst/>
          </a:prstGeom>
          <a:noFill/>
        </p:spPr>
        <p:txBody>
          <a:bodyPr wrap="square" lIns="54864" tIns="27432" rIns="54864">
            <a:spAutoFit/>
          </a:bodyPr>
          <a:lstStyle/>
          <a:p>
            <a:pPr algn="r"/>
            <a:r>
              <a:rPr sz="900" b="1">
                <a:solidFill>
                  <a:srgbClr val="64748B"/>
                </a:solidFill>
                <a:latin typeface="Aptos"/>
              </a:rPr>
              <a:t>02</a:t>
            </a:r>
          </a:p>
        </p:txBody>
      </p:sp>
      <p:sp>
        <p:nvSpPr>
          <p:cNvPr id="8" name="Rounded Rectangle 7"/>
          <p:cNvSpPr/>
          <p:nvPr/>
        </p:nvSpPr>
        <p:spPr>
          <a:xfrm>
            <a:off x="594360" y="1554480"/>
            <a:ext cx="3520440" cy="1874519"/>
          </a:xfrm>
          <a:prstGeom prst="roundRect">
            <a:avLst>
              <a:gd name="adj" fmla="val 12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0664" y="1664207"/>
            <a:ext cx="3227832" cy="256032"/>
          </a:xfrm>
          <a:prstGeom prst="rect">
            <a:avLst/>
          </a:prstGeom>
          <a:noFill/>
        </p:spPr>
        <p:txBody>
          <a:bodyPr wrap="square" lIns="54864" tIns="27432" rIns="54864">
            <a:spAutoFit/>
          </a:bodyPr>
          <a:lstStyle/>
          <a:p>
            <a:pPr algn="l"/>
            <a:r>
              <a:rPr sz="1300" b="1">
                <a:solidFill>
                  <a:srgbClr val="2563EB"/>
                </a:solidFill>
                <a:latin typeface="Aptos"/>
              </a:rPr>
              <a:t>PROBLEM</a:t>
            </a:r>
          </a:p>
        </p:txBody>
      </p:sp>
      <p:sp>
        <p:nvSpPr>
          <p:cNvPr id="10" name="TextBox 9"/>
          <p:cNvSpPr txBox="1"/>
          <p:nvPr/>
        </p:nvSpPr>
        <p:spPr>
          <a:xfrm>
            <a:off x="740664" y="1993391"/>
            <a:ext cx="3227832" cy="1371599"/>
          </a:xfrm>
          <a:prstGeom prst="rect">
            <a:avLst/>
          </a:prstGeom>
          <a:noFill/>
        </p:spPr>
        <p:txBody>
          <a:bodyPr wrap="square" lIns="54864" tIns="27432" rIns="54864">
            <a:spAutoFit/>
          </a:bodyPr>
          <a:lstStyle/>
          <a:p>
            <a:pPr algn="l"/>
            <a:r>
              <a:rPr sz="1200" b="0">
                <a:solidFill>
                  <a:srgbClr val="64748B"/>
                </a:solidFill>
                <a:latin typeface="Aptos"/>
              </a:rPr>
              <a:t>When a flash crowd hits, many requests arrive at once at a virtual IP that sits in front of a pool of servers. The servers are single threaded, so poor routing pushes up the tail latency that users feel. The usual claim is that a load aware SDN controller will beat plain round robin.</a:t>
            </a:r>
          </a:p>
        </p:txBody>
      </p:sp>
      <p:sp>
        <p:nvSpPr>
          <p:cNvPr id="11" name="Rounded Rectangle 10"/>
          <p:cNvSpPr/>
          <p:nvPr/>
        </p:nvSpPr>
        <p:spPr>
          <a:xfrm>
            <a:off x="4315968" y="1554480"/>
            <a:ext cx="3520440" cy="1874519"/>
          </a:xfrm>
          <a:prstGeom prst="roundRect">
            <a:avLst>
              <a:gd name="adj" fmla="val 12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62272" y="1664207"/>
            <a:ext cx="3227832" cy="256032"/>
          </a:xfrm>
          <a:prstGeom prst="rect">
            <a:avLst/>
          </a:prstGeom>
          <a:noFill/>
        </p:spPr>
        <p:txBody>
          <a:bodyPr wrap="square" lIns="54864" tIns="27432" rIns="54864">
            <a:spAutoFit/>
          </a:bodyPr>
          <a:lstStyle/>
          <a:p>
            <a:pPr algn="l"/>
            <a:r>
              <a:rPr sz="1300" b="1">
                <a:solidFill>
                  <a:srgbClr val="2563EB"/>
                </a:solidFill>
                <a:latin typeface="Aptos"/>
              </a:rPr>
              <a:t>SOLUTION</a:t>
            </a:r>
          </a:p>
        </p:txBody>
      </p:sp>
      <p:sp>
        <p:nvSpPr>
          <p:cNvPr id="13" name="TextBox 12"/>
          <p:cNvSpPr txBox="1"/>
          <p:nvPr/>
        </p:nvSpPr>
        <p:spPr>
          <a:xfrm>
            <a:off x="4462272" y="1993391"/>
            <a:ext cx="3227832" cy="1371599"/>
          </a:xfrm>
          <a:prstGeom prst="rect">
            <a:avLst/>
          </a:prstGeom>
          <a:noFill/>
        </p:spPr>
        <p:txBody>
          <a:bodyPr wrap="square" lIns="54864" tIns="27432" rIns="54864">
            <a:spAutoFit/>
          </a:bodyPr>
          <a:lstStyle/>
          <a:p>
            <a:pPr algn="l"/>
            <a:r>
              <a:rPr sz="1200" b="0">
                <a:solidFill>
                  <a:srgbClr val="64748B"/>
                </a:solidFill>
                <a:latin typeface="Aptos"/>
              </a:rPr>
              <a:t>We built five controller policies on one Mininet and Open vSwitch testbed: round robin, weighted round robin, reactive least load, an EWMA predictor and a capacity aware policy. All of them were tested under the same flash crowd, including a real 1998 World Cup trace.</a:t>
            </a:r>
          </a:p>
        </p:txBody>
      </p:sp>
      <p:sp>
        <p:nvSpPr>
          <p:cNvPr id="14" name="Rounded Rectangle 13"/>
          <p:cNvSpPr/>
          <p:nvPr/>
        </p:nvSpPr>
        <p:spPr>
          <a:xfrm>
            <a:off x="8028431" y="1554480"/>
            <a:ext cx="3520440" cy="1874519"/>
          </a:xfrm>
          <a:prstGeom prst="roundRect">
            <a:avLst>
              <a:gd name="adj" fmla="val 12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74736" y="1664207"/>
            <a:ext cx="3227832" cy="256032"/>
          </a:xfrm>
          <a:prstGeom prst="rect">
            <a:avLst/>
          </a:prstGeom>
          <a:noFill/>
        </p:spPr>
        <p:txBody>
          <a:bodyPr wrap="square" lIns="54864" tIns="27432" rIns="54864">
            <a:spAutoFit/>
          </a:bodyPr>
          <a:lstStyle/>
          <a:p>
            <a:pPr algn="l"/>
            <a:r>
              <a:rPr sz="1300" b="1">
                <a:solidFill>
                  <a:srgbClr val="2563EB"/>
                </a:solidFill>
                <a:latin typeface="Aptos"/>
              </a:rPr>
              <a:t>OUTCOME</a:t>
            </a:r>
          </a:p>
        </p:txBody>
      </p:sp>
      <p:sp>
        <p:nvSpPr>
          <p:cNvPr id="16" name="TextBox 15"/>
          <p:cNvSpPr txBox="1"/>
          <p:nvPr/>
        </p:nvSpPr>
        <p:spPr>
          <a:xfrm>
            <a:off x="8174736" y="1993391"/>
            <a:ext cx="3227832" cy="1371599"/>
          </a:xfrm>
          <a:prstGeom prst="rect">
            <a:avLst/>
          </a:prstGeom>
          <a:noFill/>
        </p:spPr>
        <p:txBody>
          <a:bodyPr wrap="square" lIns="54864" tIns="27432" rIns="54864">
            <a:spAutoFit/>
          </a:bodyPr>
          <a:lstStyle/>
          <a:p>
            <a:pPr algn="l"/>
            <a:r>
              <a:rPr sz="1200" b="0">
                <a:solidFill>
                  <a:srgbClr val="64748B"/>
                </a:solidFill>
                <a:latin typeface="Aptos"/>
              </a:rPr>
              <a:t>The byte rate signal the controller sees points the wrong way for compute bound servers, so the reactive policies lose to round robin. The one policy that wins is capacity aware: it cuts P99 latency from about 98ms to 48.8ms under steady load.</a:t>
            </a:r>
          </a:p>
        </p:txBody>
      </p:sp>
      <p:sp>
        <p:nvSpPr>
          <p:cNvPr id="17" name="TextBox 16"/>
          <p:cNvSpPr txBox="1"/>
          <p:nvPr/>
        </p:nvSpPr>
        <p:spPr>
          <a:xfrm>
            <a:off x="685800" y="3703320"/>
            <a:ext cx="10058400" cy="274320"/>
          </a:xfrm>
          <a:prstGeom prst="rect">
            <a:avLst/>
          </a:prstGeom>
          <a:noFill/>
        </p:spPr>
        <p:txBody>
          <a:bodyPr wrap="square" lIns="54864" tIns="27432" rIns="54864">
            <a:spAutoFit/>
          </a:bodyPr>
          <a:lstStyle/>
          <a:p>
            <a:pPr algn="l"/>
            <a:r>
              <a:rPr sz="1700" b="1">
                <a:solidFill>
                  <a:srgbClr val="12223E"/>
                </a:solidFill>
                <a:latin typeface="Aptos"/>
              </a:rPr>
              <a:t>At-a-glance</a:t>
            </a:r>
          </a:p>
        </p:txBody>
      </p:sp>
      <p:sp>
        <p:nvSpPr>
          <p:cNvPr id="18" name="Rounded Rectangle 17"/>
          <p:cNvSpPr/>
          <p:nvPr/>
        </p:nvSpPr>
        <p:spPr>
          <a:xfrm>
            <a:off x="685800" y="4114800"/>
            <a:ext cx="5257800" cy="566928"/>
          </a:xfrm>
          <a:prstGeom prst="roundRect">
            <a:avLst>
              <a:gd name="adj" fmla="val 12000"/>
            </a:avLst>
          </a:prstGeom>
          <a:solidFill>
            <a:srgbClr val="EFF6FF"/>
          </a:solidFill>
          <a:ln>
            <a:solidFill>
              <a:srgbClr val="EFF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2960" y="4224528"/>
            <a:ext cx="1463040" cy="228600"/>
          </a:xfrm>
          <a:prstGeom prst="rect">
            <a:avLst/>
          </a:prstGeom>
          <a:noFill/>
        </p:spPr>
        <p:txBody>
          <a:bodyPr wrap="square" lIns="54864" tIns="27432" rIns="54864">
            <a:spAutoFit/>
          </a:bodyPr>
          <a:lstStyle/>
          <a:p>
            <a:pPr algn="l"/>
            <a:r>
              <a:rPr sz="1100" b="1">
                <a:solidFill>
                  <a:srgbClr val="2563EB"/>
                </a:solidFill>
                <a:latin typeface="Aptos"/>
              </a:rPr>
              <a:t>Target metric</a:t>
            </a:r>
          </a:p>
        </p:txBody>
      </p:sp>
      <p:sp>
        <p:nvSpPr>
          <p:cNvPr id="20" name="TextBox 19"/>
          <p:cNvSpPr txBox="1"/>
          <p:nvPr/>
        </p:nvSpPr>
        <p:spPr>
          <a:xfrm>
            <a:off x="2331720" y="4206240"/>
            <a:ext cx="3474720" cy="320040"/>
          </a:xfrm>
          <a:prstGeom prst="rect">
            <a:avLst/>
          </a:prstGeom>
          <a:noFill/>
        </p:spPr>
        <p:txBody>
          <a:bodyPr wrap="square" lIns="54864" tIns="27432" rIns="54864">
            <a:spAutoFit/>
          </a:bodyPr>
          <a:lstStyle/>
          <a:p>
            <a:pPr algn="l"/>
            <a:r>
              <a:rPr sz="1200" b="0">
                <a:solidFill>
                  <a:srgbClr val="1E293B"/>
                </a:solidFill>
                <a:latin typeface="Aptos"/>
              </a:rPr>
              <a:t>P95 / P99 request latency and success rate</a:t>
            </a:r>
          </a:p>
        </p:txBody>
      </p:sp>
      <p:sp>
        <p:nvSpPr>
          <p:cNvPr id="21" name="Rounded Rectangle 20"/>
          <p:cNvSpPr/>
          <p:nvPr/>
        </p:nvSpPr>
        <p:spPr>
          <a:xfrm>
            <a:off x="6263640" y="4114800"/>
            <a:ext cx="5257800" cy="566928"/>
          </a:xfrm>
          <a:prstGeom prst="roundRect">
            <a:avLst>
              <a:gd name="adj" fmla="val 12000"/>
            </a:avLst>
          </a:prstGeom>
          <a:solidFill>
            <a:srgbClr val="EFF6FF"/>
          </a:solidFill>
          <a:ln>
            <a:solidFill>
              <a:srgbClr val="EFF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0" y="4224528"/>
            <a:ext cx="1463040" cy="228600"/>
          </a:xfrm>
          <a:prstGeom prst="rect">
            <a:avLst/>
          </a:prstGeom>
          <a:noFill/>
        </p:spPr>
        <p:txBody>
          <a:bodyPr wrap="square" lIns="54864" tIns="27432" rIns="54864">
            <a:spAutoFit/>
          </a:bodyPr>
          <a:lstStyle/>
          <a:p>
            <a:pPr algn="l"/>
            <a:r>
              <a:rPr sz="1100" b="1">
                <a:solidFill>
                  <a:srgbClr val="2563EB"/>
                </a:solidFill>
                <a:latin typeface="Aptos"/>
              </a:rPr>
              <a:t>Environment</a:t>
            </a:r>
          </a:p>
        </p:txBody>
      </p:sp>
      <p:sp>
        <p:nvSpPr>
          <p:cNvPr id="23" name="TextBox 22"/>
          <p:cNvSpPr txBox="1"/>
          <p:nvPr/>
        </p:nvSpPr>
        <p:spPr>
          <a:xfrm>
            <a:off x="7909560" y="4206240"/>
            <a:ext cx="3474720" cy="320040"/>
          </a:xfrm>
          <a:prstGeom prst="rect">
            <a:avLst/>
          </a:prstGeom>
          <a:noFill/>
        </p:spPr>
        <p:txBody>
          <a:bodyPr wrap="square" lIns="54864" tIns="27432" rIns="54864">
            <a:spAutoFit/>
          </a:bodyPr>
          <a:lstStyle/>
          <a:p>
            <a:pPr algn="l"/>
            <a:r>
              <a:rPr sz="1200" b="0">
                <a:solidFill>
                  <a:srgbClr val="1E293B"/>
                </a:solidFill>
                <a:latin typeface="Aptos"/>
              </a:rPr>
              <a:t>Mininet 2.3.1, Open vSwitch 2.17, Ryu 4.34</a:t>
            </a:r>
          </a:p>
        </p:txBody>
      </p:sp>
      <p:sp>
        <p:nvSpPr>
          <p:cNvPr id="24" name="Rounded Rectangle 23"/>
          <p:cNvSpPr/>
          <p:nvPr/>
        </p:nvSpPr>
        <p:spPr>
          <a:xfrm>
            <a:off x="685800" y="4892040"/>
            <a:ext cx="5257800" cy="566928"/>
          </a:xfrm>
          <a:prstGeom prst="roundRect">
            <a:avLst>
              <a:gd name="adj" fmla="val 12000"/>
            </a:avLst>
          </a:prstGeom>
          <a:solidFill>
            <a:srgbClr val="EFF6FF"/>
          </a:solidFill>
          <a:ln>
            <a:solidFill>
              <a:srgbClr val="EFF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2960" y="5001768"/>
            <a:ext cx="1463040" cy="228600"/>
          </a:xfrm>
          <a:prstGeom prst="rect">
            <a:avLst/>
          </a:prstGeom>
          <a:noFill/>
        </p:spPr>
        <p:txBody>
          <a:bodyPr wrap="square" lIns="54864" tIns="27432" rIns="54864">
            <a:spAutoFit/>
          </a:bodyPr>
          <a:lstStyle/>
          <a:p>
            <a:pPr algn="l"/>
            <a:r>
              <a:rPr sz="1100" b="1">
                <a:solidFill>
                  <a:srgbClr val="2563EB"/>
                </a:solidFill>
                <a:latin typeface="Aptos"/>
              </a:rPr>
              <a:t>Status</a:t>
            </a:r>
          </a:p>
        </p:txBody>
      </p:sp>
      <p:sp>
        <p:nvSpPr>
          <p:cNvPr id="26" name="TextBox 25"/>
          <p:cNvSpPr txBox="1"/>
          <p:nvPr/>
        </p:nvSpPr>
        <p:spPr>
          <a:xfrm>
            <a:off x="2331720" y="4983479"/>
            <a:ext cx="3474720" cy="320040"/>
          </a:xfrm>
          <a:prstGeom prst="rect">
            <a:avLst/>
          </a:prstGeom>
          <a:noFill/>
        </p:spPr>
        <p:txBody>
          <a:bodyPr wrap="square" lIns="54864" tIns="27432" rIns="54864">
            <a:spAutoFit/>
          </a:bodyPr>
          <a:lstStyle/>
          <a:p>
            <a:pPr algn="l"/>
            <a:r>
              <a:rPr sz="1200" b="0">
                <a:solidFill>
                  <a:srgbClr val="1E293B"/>
                </a:solidFill>
                <a:latin typeface="Aptos"/>
              </a:rPr>
              <a:t>Implemented, tested and evaluated (7-run mean ± SD)</a:t>
            </a:r>
          </a:p>
        </p:txBody>
      </p:sp>
      <p:sp>
        <p:nvSpPr>
          <p:cNvPr id="27" name="Rounded Rectangle 26"/>
          <p:cNvSpPr/>
          <p:nvPr/>
        </p:nvSpPr>
        <p:spPr>
          <a:xfrm>
            <a:off x="6263640" y="4892040"/>
            <a:ext cx="5257800" cy="566928"/>
          </a:xfrm>
          <a:prstGeom prst="roundRect">
            <a:avLst>
              <a:gd name="adj" fmla="val 12000"/>
            </a:avLst>
          </a:prstGeom>
          <a:solidFill>
            <a:srgbClr val="EFF6FF"/>
          </a:solidFill>
          <a:ln>
            <a:solidFill>
              <a:srgbClr val="EFF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0" y="5001768"/>
            <a:ext cx="1463040" cy="228600"/>
          </a:xfrm>
          <a:prstGeom prst="rect">
            <a:avLst/>
          </a:prstGeom>
          <a:noFill/>
        </p:spPr>
        <p:txBody>
          <a:bodyPr wrap="square" lIns="54864" tIns="27432" rIns="54864">
            <a:spAutoFit/>
          </a:bodyPr>
          <a:lstStyle/>
          <a:p>
            <a:pPr algn="l"/>
            <a:r>
              <a:rPr sz="1100" b="1">
                <a:solidFill>
                  <a:srgbClr val="2563EB"/>
                </a:solidFill>
                <a:latin typeface="Aptos"/>
              </a:rPr>
              <a:t>Contribution</a:t>
            </a:r>
          </a:p>
        </p:txBody>
      </p:sp>
      <p:sp>
        <p:nvSpPr>
          <p:cNvPr id="29" name="TextBox 28"/>
          <p:cNvSpPr txBox="1"/>
          <p:nvPr/>
        </p:nvSpPr>
        <p:spPr>
          <a:xfrm>
            <a:off x="7909560" y="4983479"/>
            <a:ext cx="3474720" cy="320040"/>
          </a:xfrm>
          <a:prstGeom prst="rect">
            <a:avLst/>
          </a:prstGeom>
          <a:noFill/>
        </p:spPr>
        <p:txBody>
          <a:bodyPr wrap="square" lIns="54864" tIns="27432" rIns="54864">
            <a:spAutoFit/>
          </a:bodyPr>
          <a:lstStyle/>
          <a:p>
            <a:pPr algn="l"/>
            <a:r>
              <a:rPr sz="1100" b="0">
                <a:solidFill>
                  <a:srgbClr val="1E293B"/>
                </a:solidFill>
                <a:latin typeface="Aptos"/>
              </a:rPr>
              <a:t>A careful comparison of the signals a controller can see, plus one policy that beats round robin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58368"/>
            <a:ext cx="11155680" cy="502920"/>
          </a:xfrm>
          <a:prstGeom prst="rect">
            <a:avLst/>
          </a:prstGeom>
          <a:noFill/>
        </p:spPr>
        <p:txBody>
          <a:bodyPr wrap="square" lIns="54864" tIns="27432" rIns="54864">
            <a:spAutoFit/>
          </a:bodyPr>
          <a:lstStyle/>
          <a:p>
            <a:pPr algn="l"/>
            <a:r>
              <a:rPr sz="2600" b="1">
                <a:solidFill>
                  <a:srgbClr val="12223E"/>
                </a:solidFill>
                <a:latin typeface="Aptos"/>
              </a:rPr>
              <a:t>Problem statement, objectives and scope</a:t>
            </a:r>
          </a:p>
        </p:txBody>
      </p:sp>
      <p:sp>
        <p:nvSpPr>
          <p:cNvPr id="5" name="Rectangle 4"/>
          <p:cNvSpPr/>
          <p:nvPr/>
        </p:nvSpPr>
        <p:spPr>
          <a:xfrm>
            <a:off x="502920" y="1261872"/>
            <a:ext cx="11155680"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064240" y="6510528"/>
            <a:ext cx="548640" cy="182880"/>
          </a:xfrm>
          <a:prstGeom prst="rect">
            <a:avLst/>
          </a:prstGeom>
          <a:noFill/>
        </p:spPr>
        <p:txBody>
          <a:bodyPr wrap="square" lIns="54864" tIns="27432" rIns="54864">
            <a:spAutoFit/>
          </a:bodyPr>
          <a:lstStyle/>
          <a:p>
            <a:pPr algn="r"/>
            <a:r>
              <a:rPr sz="900" b="1">
                <a:solidFill>
                  <a:srgbClr val="64748B"/>
                </a:solidFill>
                <a:latin typeface="Aptos"/>
              </a:rPr>
              <a:t>03</a:t>
            </a:r>
          </a:p>
        </p:txBody>
      </p:sp>
      <p:sp>
        <p:nvSpPr>
          <p:cNvPr id="8" name="Rounded Rectangle 7"/>
          <p:cNvSpPr/>
          <p:nvPr/>
        </p:nvSpPr>
        <p:spPr>
          <a:xfrm>
            <a:off x="594360" y="1554480"/>
            <a:ext cx="5394960" cy="1828800"/>
          </a:xfrm>
          <a:prstGeom prst="roundRect">
            <a:avLst>
              <a:gd name="adj" fmla="val 12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0664" y="1664207"/>
            <a:ext cx="5102352" cy="256032"/>
          </a:xfrm>
          <a:prstGeom prst="rect">
            <a:avLst/>
          </a:prstGeom>
          <a:noFill/>
        </p:spPr>
        <p:txBody>
          <a:bodyPr wrap="square" lIns="54864" tIns="27432" rIns="54864">
            <a:spAutoFit/>
          </a:bodyPr>
          <a:lstStyle/>
          <a:p>
            <a:pPr algn="l"/>
            <a:r>
              <a:rPr sz="1300" b="1">
                <a:solidFill>
                  <a:srgbClr val="2563EB"/>
                </a:solidFill>
                <a:latin typeface="Aptos"/>
              </a:rPr>
              <a:t>PROBLEM STATEMENT</a:t>
            </a:r>
          </a:p>
        </p:txBody>
      </p:sp>
      <p:sp>
        <p:nvSpPr>
          <p:cNvPr id="10" name="TextBox 9"/>
          <p:cNvSpPr txBox="1"/>
          <p:nvPr/>
        </p:nvSpPr>
        <p:spPr>
          <a:xfrm>
            <a:off x="740664" y="1993391"/>
            <a:ext cx="5102352" cy="1325880"/>
          </a:xfrm>
          <a:prstGeom prst="rect">
            <a:avLst/>
          </a:prstGeom>
          <a:noFill/>
        </p:spPr>
        <p:txBody>
          <a:bodyPr wrap="square" lIns="54864" tIns="27432" rIns="54864">
            <a:spAutoFit/>
          </a:bodyPr>
          <a:lstStyle/>
          <a:p>
            <a:pPr algn="l"/>
            <a:r>
              <a:rPr sz="1100" b="0">
                <a:solidFill>
                  <a:srgbClr val="64748B"/>
                </a:solidFill>
                <a:latin typeface="Aptos"/>
              </a:rPr>
              <a:t>A flash crowd sends many short requests at once to a virtual IP in front of three backends. The servers are single threaded, so poor routing drives up the P95 and P99 latency and can start dropping requests.</a:t>
            </a:r>
          </a:p>
          <a:p>
            <a:pPr algn="l"/>
            <a:r>
              <a:rPr sz="1100" b="0">
                <a:solidFill>
                  <a:srgbClr val="64748B"/>
                </a:solidFill>
                <a:latin typeface="Aptos"/>
              </a:rPr>
              <a:t>Common wisdom says a load aware controller should beat round robin. We test whether that actually holds, and which signal it depends on.</a:t>
            </a:r>
          </a:p>
        </p:txBody>
      </p:sp>
      <p:sp>
        <p:nvSpPr>
          <p:cNvPr id="11" name="Rounded Rectangle 10"/>
          <p:cNvSpPr/>
          <p:nvPr/>
        </p:nvSpPr>
        <p:spPr>
          <a:xfrm>
            <a:off x="6217920" y="1554480"/>
            <a:ext cx="5394960" cy="1828800"/>
          </a:xfrm>
          <a:prstGeom prst="roundRect">
            <a:avLst>
              <a:gd name="adj" fmla="val 12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64224" y="1664207"/>
            <a:ext cx="5102352" cy="256032"/>
          </a:xfrm>
          <a:prstGeom prst="rect">
            <a:avLst/>
          </a:prstGeom>
          <a:noFill/>
        </p:spPr>
        <p:txBody>
          <a:bodyPr wrap="square" lIns="54864" tIns="27432" rIns="54864">
            <a:spAutoFit/>
          </a:bodyPr>
          <a:lstStyle/>
          <a:p>
            <a:pPr algn="l"/>
            <a:r>
              <a:rPr sz="1300" b="1">
                <a:solidFill>
                  <a:srgbClr val="2563EB"/>
                </a:solidFill>
                <a:latin typeface="Aptos"/>
              </a:rPr>
              <a:t>OBJECTIVES</a:t>
            </a:r>
          </a:p>
        </p:txBody>
      </p:sp>
      <p:sp>
        <p:nvSpPr>
          <p:cNvPr id="13" name="TextBox 12"/>
          <p:cNvSpPr txBox="1"/>
          <p:nvPr/>
        </p:nvSpPr>
        <p:spPr>
          <a:xfrm>
            <a:off x="6364224" y="1993391"/>
            <a:ext cx="5102352" cy="1325880"/>
          </a:xfrm>
          <a:prstGeom prst="rect">
            <a:avLst/>
          </a:prstGeom>
          <a:noFill/>
        </p:spPr>
        <p:txBody>
          <a:bodyPr wrap="square" lIns="54864" tIns="27432" rIns="54864">
            <a:spAutoFit/>
          </a:bodyPr>
          <a:lstStyle/>
          <a:p>
            <a:pPr algn="l"/>
            <a:r>
              <a:rPr sz="1400" b="0">
                <a:solidFill>
                  <a:srgbClr val="64748B"/>
                </a:solidFill>
                <a:latin typeface="Aptos"/>
              </a:rPr>
              <a:t>Build a reproducible SDN load-balancing testbed with pluggable controller policies.</a:t>
            </a:r>
          </a:p>
          <a:p>
            <a:pPr algn="l"/>
            <a:r>
              <a:rPr sz="1400" b="0">
                <a:solidFill>
                  <a:srgbClr val="64748B"/>
                </a:solidFill>
                <a:latin typeface="Aptos"/>
              </a:rPr>
              <a:t>Compare reactive load-aware policies against round-robin under flash-crowd traffic.</a:t>
            </a:r>
          </a:p>
          <a:p>
            <a:pPr algn="l"/>
            <a:r>
              <a:rPr sz="1400" b="0">
                <a:solidFill>
                  <a:srgbClr val="64748B"/>
                </a:solidFill>
                <a:latin typeface="Aptos"/>
              </a:rPr>
              <a:t>Explain the measured outcome mechanistically, then design a policy that improves on round-robin.</a:t>
            </a:r>
          </a:p>
        </p:txBody>
      </p:sp>
      <p:sp>
        <p:nvSpPr>
          <p:cNvPr id="14" name="Rounded Rectangle 13"/>
          <p:cNvSpPr/>
          <p:nvPr/>
        </p:nvSpPr>
        <p:spPr>
          <a:xfrm>
            <a:off x="594360" y="3657600"/>
            <a:ext cx="5394960" cy="2057400"/>
          </a:xfrm>
          <a:prstGeom prst="roundRect">
            <a:avLst>
              <a:gd name="adj" fmla="val 12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0664" y="3767328"/>
            <a:ext cx="5102352" cy="256032"/>
          </a:xfrm>
          <a:prstGeom prst="rect">
            <a:avLst/>
          </a:prstGeom>
          <a:noFill/>
        </p:spPr>
        <p:txBody>
          <a:bodyPr wrap="square" lIns="54864" tIns="27432" rIns="54864">
            <a:spAutoFit/>
          </a:bodyPr>
          <a:lstStyle/>
          <a:p>
            <a:pPr algn="l"/>
            <a:r>
              <a:rPr sz="1300" b="1">
                <a:solidFill>
                  <a:srgbClr val="2563EB"/>
                </a:solidFill>
                <a:latin typeface="Aptos"/>
              </a:rPr>
              <a:t>SCOPE AND ASSUMPTIONS</a:t>
            </a:r>
          </a:p>
        </p:txBody>
      </p:sp>
      <p:sp>
        <p:nvSpPr>
          <p:cNvPr id="16" name="TextBox 15"/>
          <p:cNvSpPr txBox="1"/>
          <p:nvPr/>
        </p:nvSpPr>
        <p:spPr>
          <a:xfrm>
            <a:off x="740664" y="4096512"/>
            <a:ext cx="5102352" cy="1554480"/>
          </a:xfrm>
          <a:prstGeom prst="rect">
            <a:avLst/>
          </a:prstGeom>
          <a:noFill/>
        </p:spPr>
        <p:txBody>
          <a:bodyPr wrap="square" lIns="54864" tIns="27432" rIns="54864">
            <a:spAutoFit/>
          </a:bodyPr>
          <a:lstStyle/>
          <a:p>
            <a:pPr algn="l"/>
            <a:r>
              <a:rPr sz="1400" b="0">
                <a:solidFill>
                  <a:srgbClr val="64748B"/>
                </a:solidFill>
                <a:latin typeface="Aptos"/>
              </a:rPr>
              <a:t>Included: L3/L4 load balancing at one OpenFlow switch, three backends, four clients, emulation only.</a:t>
            </a:r>
          </a:p>
          <a:p>
            <a:pPr algn="l"/>
            <a:r>
              <a:rPr sz="1400" b="0">
                <a:solidFill>
                  <a:srgbClr val="64748B"/>
                </a:solidFill>
                <a:latin typeface="Aptos"/>
              </a:rPr>
              <a:t>Assumptions: single-threaded backends, a fresh TCP connection per request, per-server service times known to the capacity-aware policy.</a:t>
            </a:r>
          </a:p>
        </p:txBody>
      </p:sp>
      <p:sp>
        <p:nvSpPr>
          <p:cNvPr id="17" name="Rounded Rectangle 16"/>
          <p:cNvSpPr/>
          <p:nvPr/>
        </p:nvSpPr>
        <p:spPr>
          <a:xfrm>
            <a:off x="6217920" y="3657600"/>
            <a:ext cx="5394960" cy="2057400"/>
          </a:xfrm>
          <a:prstGeom prst="roundRect">
            <a:avLst>
              <a:gd name="adj" fmla="val 12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64224" y="3767328"/>
            <a:ext cx="5102352" cy="256032"/>
          </a:xfrm>
          <a:prstGeom prst="rect">
            <a:avLst/>
          </a:prstGeom>
          <a:noFill/>
        </p:spPr>
        <p:txBody>
          <a:bodyPr wrap="square" lIns="54864" tIns="27432" rIns="54864">
            <a:spAutoFit/>
          </a:bodyPr>
          <a:lstStyle/>
          <a:p>
            <a:pPr algn="l"/>
            <a:r>
              <a:rPr sz="1300" b="1">
                <a:solidFill>
                  <a:srgbClr val="2563EB"/>
                </a:solidFill>
                <a:latin typeface="Aptos"/>
              </a:rPr>
              <a:t>SUCCESS CRITERIA</a:t>
            </a:r>
          </a:p>
        </p:txBody>
      </p:sp>
      <p:sp>
        <p:nvSpPr>
          <p:cNvPr id="19" name="TextBox 18"/>
          <p:cNvSpPr txBox="1"/>
          <p:nvPr/>
        </p:nvSpPr>
        <p:spPr>
          <a:xfrm>
            <a:off x="6364224" y="4096512"/>
            <a:ext cx="5102352" cy="1554480"/>
          </a:xfrm>
          <a:prstGeom prst="rect">
            <a:avLst/>
          </a:prstGeom>
          <a:noFill/>
        </p:spPr>
        <p:txBody>
          <a:bodyPr wrap="square" lIns="54864" tIns="27432" rIns="54864">
            <a:spAutoFit/>
          </a:bodyPr>
          <a:lstStyle/>
          <a:p>
            <a:pPr algn="l"/>
            <a:r>
              <a:rPr sz="1400" b="0">
                <a:solidFill>
                  <a:srgbClr val="64748B"/>
                </a:solidFill>
                <a:latin typeface="Aptos"/>
              </a:rPr>
              <a:t>A policy is better only if it lowers P95/P99 at equal-or-higher success rate, repeatably.</a:t>
            </a:r>
          </a:p>
          <a:p>
            <a:pPr algn="l"/>
            <a:r>
              <a:rPr sz="1400" b="0">
                <a:solidFill>
                  <a:srgbClr val="64748B"/>
                </a:solidFill>
                <a:latin typeface="Aptos"/>
              </a:rPr>
              <a:t>Every number reported as mean ± SD over seven runs per configuration.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58368"/>
            <a:ext cx="11155680" cy="502920"/>
          </a:xfrm>
          <a:prstGeom prst="rect">
            <a:avLst/>
          </a:prstGeom>
          <a:noFill/>
        </p:spPr>
        <p:txBody>
          <a:bodyPr wrap="square" lIns="54864" tIns="27432" rIns="54864">
            <a:spAutoFit/>
          </a:bodyPr>
          <a:lstStyle/>
          <a:p>
            <a:pPr algn="l"/>
            <a:r>
              <a:rPr sz="2600" b="1">
                <a:solidFill>
                  <a:srgbClr val="12223E"/>
                </a:solidFill>
                <a:latin typeface="Aptos"/>
              </a:rPr>
              <a:t>Background and related work</a:t>
            </a:r>
          </a:p>
        </p:txBody>
      </p:sp>
      <p:sp>
        <p:nvSpPr>
          <p:cNvPr id="5" name="Rectangle 4"/>
          <p:cNvSpPr/>
          <p:nvPr/>
        </p:nvSpPr>
        <p:spPr>
          <a:xfrm>
            <a:off x="502920" y="1261872"/>
            <a:ext cx="11155680"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064240" y="6510528"/>
            <a:ext cx="548640" cy="182880"/>
          </a:xfrm>
          <a:prstGeom prst="rect">
            <a:avLst/>
          </a:prstGeom>
          <a:noFill/>
        </p:spPr>
        <p:txBody>
          <a:bodyPr wrap="square" lIns="54864" tIns="27432" rIns="54864">
            <a:spAutoFit/>
          </a:bodyPr>
          <a:lstStyle/>
          <a:p>
            <a:pPr algn="r"/>
            <a:r>
              <a:rPr sz="900" b="1">
                <a:solidFill>
                  <a:srgbClr val="64748B"/>
                </a:solidFill>
                <a:latin typeface="Aptos"/>
              </a:rPr>
              <a:t>04</a:t>
            </a:r>
          </a:p>
        </p:txBody>
      </p:sp>
      <p:sp>
        <p:nvSpPr>
          <p:cNvPr id="8" name="Rounded Rectangle 7"/>
          <p:cNvSpPr/>
          <p:nvPr/>
        </p:nvSpPr>
        <p:spPr>
          <a:xfrm>
            <a:off x="594360" y="1554480"/>
            <a:ext cx="5394960" cy="1645920"/>
          </a:xfrm>
          <a:prstGeom prst="roundRect">
            <a:avLst>
              <a:gd name="adj" fmla="val 12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0664" y="1664207"/>
            <a:ext cx="5102352" cy="256032"/>
          </a:xfrm>
          <a:prstGeom prst="rect">
            <a:avLst/>
          </a:prstGeom>
          <a:noFill/>
        </p:spPr>
        <p:txBody>
          <a:bodyPr wrap="square" lIns="54864" tIns="27432" rIns="54864">
            <a:spAutoFit/>
          </a:bodyPr>
          <a:lstStyle/>
          <a:p>
            <a:pPr algn="l"/>
            <a:r>
              <a:rPr sz="1300" b="1">
                <a:solidFill>
                  <a:srgbClr val="2563EB"/>
                </a:solidFill>
                <a:latin typeface="Aptos"/>
              </a:rPr>
              <a:t>NETWORKING CONCEPTS</a:t>
            </a:r>
          </a:p>
        </p:txBody>
      </p:sp>
      <p:sp>
        <p:nvSpPr>
          <p:cNvPr id="10" name="TextBox 9"/>
          <p:cNvSpPr txBox="1"/>
          <p:nvPr/>
        </p:nvSpPr>
        <p:spPr>
          <a:xfrm>
            <a:off x="740664" y="1993391"/>
            <a:ext cx="5102352" cy="1143000"/>
          </a:xfrm>
          <a:prstGeom prst="rect">
            <a:avLst/>
          </a:prstGeom>
          <a:noFill/>
        </p:spPr>
        <p:txBody>
          <a:bodyPr wrap="square" lIns="54864" tIns="27432" rIns="54864">
            <a:spAutoFit/>
          </a:bodyPr>
          <a:lstStyle/>
          <a:p>
            <a:pPr algn="l"/>
            <a:r>
              <a:rPr sz="1400" b="0">
                <a:solidFill>
                  <a:srgbClr val="64748B"/>
                </a:solidFill>
                <a:latin typeface="Aptos"/>
              </a:rPr>
              <a:t>SDN control/data-plane split; OpenFlow 1.3 flow tables with match/action rules; idle and hard timeouts; port statistics and flow-removed events as load signals; NAT-style VIP rewriting; TCP setup and retransmission; tail latency (P95/P99).</a:t>
            </a:r>
          </a:p>
        </p:txBody>
      </p:sp>
      <p:sp>
        <p:nvSpPr>
          <p:cNvPr id="11" name="Rounded Rectangle 10"/>
          <p:cNvSpPr/>
          <p:nvPr/>
        </p:nvSpPr>
        <p:spPr>
          <a:xfrm>
            <a:off x="6217920" y="1554480"/>
            <a:ext cx="5394960" cy="1645920"/>
          </a:xfrm>
          <a:prstGeom prst="roundRect">
            <a:avLst>
              <a:gd name="adj" fmla="val 12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64224" y="1664207"/>
            <a:ext cx="5102352" cy="256032"/>
          </a:xfrm>
          <a:prstGeom prst="rect">
            <a:avLst/>
          </a:prstGeom>
          <a:noFill/>
        </p:spPr>
        <p:txBody>
          <a:bodyPr wrap="square" lIns="54864" tIns="27432" rIns="54864">
            <a:spAutoFit/>
          </a:bodyPr>
          <a:lstStyle/>
          <a:p>
            <a:pPr algn="l"/>
            <a:r>
              <a:rPr sz="1300" b="1">
                <a:solidFill>
                  <a:srgbClr val="2563EB"/>
                </a:solidFill>
                <a:latin typeface="Aptos"/>
              </a:rPr>
              <a:t>EXISTING APPROACHES</a:t>
            </a:r>
          </a:p>
        </p:txBody>
      </p:sp>
      <p:sp>
        <p:nvSpPr>
          <p:cNvPr id="13" name="TextBox 12"/>
          <p:cNvSpPr txBox="1"/>
          <p:nvPr/>
        </p:nvSpPr>
        <p:spPr>
          <a:xfrm>
            <a:off x="6364224" y="1993391"/>
            <a:ext cx="5102352" cy="1143000"/>
          </a:xfrm>
          <a:prstGeom prst="rect">
            <a:avLst/>
          </a:prstGeom>
          <a:noFill/>
        </p:spPr>
        <p:txBody>
          <a:bodyPr wrap="square" lIns="54864" tIns="27432" rIns="54864">
            <a:spAutoFit/>
          </a:bodyPr>
          <a:lstStyle/>
          <a:p>
            <a:pPr algn="l"/>
            <a:r>
              <a:rPr sz="1100" b="0">
                <a:solidFill>
                  <a:srgbClr val="64748B"/>
                </a:solidFill>
                <a:latin typeface="Aptos"/>
              </a:rPr>
              <a:t>Round-robin / weighted RR: simple, stateless, no load feedback.</a:t>
            </a:r>
          </a:p>
          <a:p>
            <a:pPr algn="l"/>
            <a:r>
              <a:rPr sz="1100" b="0">
                <a:solidFill>
                  <a:srgbClr val="64748B"/>
                </a:solidFill>
                <a:latin typeface="Aptos"/>
              </a:rPr>
              <a:t>Reactive least-load and EWMA power-of-two: route on a measured load signal; standard in SDN LB work.</a:t>
            </a:r>
          </a:p>
          <a:p>
            <a:pPr algn="l"/>
            <a:r>
              <a:rPr sz="1100" b="0">
                <a:solidFill>
                  <a:srgbClr val="64748B"/>
                </a:solidFill>
                <a:latin typeface="Aptos"/>
              </a:rPr>
              <a:t>Prequal (NSDI 2024) and least-connections proxies (HAProxy): use latency or in-flight counts, not byte rate.</a:t>
            </a:r>
          </a:p>
        </p:txBody>
      </p:sp>
      <p:sp>
        <p:nvSpPr>
          <p:cNvPr id="14" name="TextBox 13"/>
          <p:cNvSpPr txBox="1"/>
          <p:nvPr/>
        </p:nvSpPr>
        <p:spPr>
          <a:xfrm>
            <a:off x="685800" y="3474720"/>
            <a:ext cx="10058400" cy="274320"/>
          </a:xfrm>
          <a:prstGeom prst="rect">
            <a:avLst/>
          </a:prstGeom>
          <a:noFill/>
        </p:spPr>
        <p:txBody>
          <a:bodyPr wrap="square" lIns="54864" tIns="27432" rIns="54864">
            <a:spAutoFit/>
          </a:bodyPr>
          <a:lstStyle/>
          <a:p>
            <a:pPr algn="l"/>
            <a:r>
              <a:rPr sz="1600" b="1">
                <a:solidFill>
                  <a:srgbClr val="12223E"/>
                </a:solidFill>
                <a:latin typeface="Aptos"/>
              </a:rPr>
              <a:t>Related-work comparison</a:t>
            </a:r>
          </a:p>
        </p:txBody>
      </p:sp>
      <p:graphicFrame>
        <p:nvGraphicFramePr>
          <p:cNvPr id="15" name="Table 14"/>
          <p:cNvGraphicFramePr>
            <a:graphicFrameLocks noGrp="1"/>
          </p:cNvGraphicFramePr>
          <p:nvPr/>
        </p:nvGraphicFramePr>
        <p:xfrm>
          <a:off x="685800" y="3886200"/>
          <a:ext cx="10789920" cy="1691640"/>
        </p:xfrm>
        <a:graphic>
          <a:graphicData uri="http://schemas.openxmlformats.org/drawingml/2006/table">
            <a:tbl>
              <a:tblPr firstRow="1" bandRow="1">
                <a:tableStyleId>{5C22544A-7EE6-4342-B048-85BDC9FD1C3A}</a:tableStyleId>
              </a:tblPr>
              <a:tblGrid>
                <a:gridCol w="2697480">
                  <a:extLst>
                    <a:ext uri="{9D8B030D-6E8A-4147-A177-3AD203B41FA5}">
                      <a16:colId xmlns:a16="http://schemas.microsoft.com/office/drawing/2014/main" val="20000"/>
                    </a:ext>
                  </a:extLst>
                </a:gridCol>
                <a:gridCol w="2697480">
                  <a:extLst>
                    <a:ext uri="{9D8B030D-6E8A-4147-A177-3AD203B41FA5}">
                      <a16:colId xmlns:a16="http://schemas.microsoft.com/office/drawing/2014/main" val="20001"/>
                    </a:ext>
                  </a:extLst>
                </a:gridCol>
                <a:gridCol w="2697480">
                  <a:extLst>
                    <a:ext uri="{9D8B030D-6E8A-4147-A177-3AD203B41FA5}">
                      <a16:colId xmlns:a16="http://schemas.microsoft.com/office/drawing/2014/main" val="20002"/>
                    </a:ext>
                  </a:extLst>
                </a:gridCol>
                <a:gridCol w="2697480">
                  <a:extLst>
                    <a:ext uri="{9D8B030D-6E8A-4147-A177-3AD203B41FA5}">
                      <a16:colId xmlns:a16="http://schemas.microsoft.com/office/drawing/2014/main" val="20003"/>
                    </a:ext>
                  </a:extLst>
                </a:gridCol>
              </a:tblGrid>
              <a:tr h="422910">
                <a:tc>
                  <a:txBody>
                    <a:bodyPr/>
                    <a:lstStyle/>
                    <a:p>
                      <a:pPr>
                        <a:defRPr sz="1000" b="1">
                          <a:solidFill>
                            <a:srgbClr val="FFFFFF"/>
                          </a:solidFill>
                          <a:latin typeface="Aptos"/>
                        </a:defRPr>
                      </a:pPr>
                      <a:r>
                        <a:t>Approach</a:t>
                      </a:r>
                    </a:p>
                  </a:txBody>
                  <a:tcPr>
                    <a:solidFill>
                      <a:srgbClr val="12223E"/>
                    </a:solidFill>
                  </a:tcPr>
                </a:tc>
                <a:tc>
                  <a:txBody>
                    <a:bodyPr/>
                    <a:lstStyle/>
                    <a:p>
                      <a:pPr>
                        <a:defRPr sz="1000" b="1">
                          <a:solidFill>
                            <a:srgbClr val="FFFFFF"/>
                          </a:solidFill>
                          <a:latin typeface="Aptos"/>
                        </a:defRPr>
                      </a:pPr>
                      <a:r>
                        <a:t>Load signal</a:t>
                      </a:r>
                    </a:p>
                  </a:txBody>
                  <a:tcPr>
                    <a:solidFill>
                      <a:srgbClr val="12223E"/>
                    </a:solidFill>
                  </a:tcPr>
                </a:tc>
                <a:tc>
                  <a:txBody>
                    <a:bodyPr/>
                    <a:lstStyle/>
                    <a:p>
                      <a:pPr>
                        <a:defRPr sz="1000" b="1">
                          <a:solidFill>
                            <a:srgbClr val="FFFFFF"/>
                          </a:solidFill>
                          <a:latin typeface="Aptos"/>
                        </a:defRPr>
                      </a:pPr>
                      <a:r>
                        <a:t>Decides per</a:t>
                      </a:r>
                    </a:p>
                  </a:txBody>
                  <a:tcPr>
                    <a:solidFill>
                      <a:srgbClr val="12223E"/>
                    </a:solidFill>
                  </a:tcPr>
                </a:tc>
                <a:tc>
                  <a:txBody>
                    <a:bodyPr/>
                    <a:lstStyle/>
                    <a:p>
                      <a:pPr>
                        <a:defRPr sz="1000" b="1">
                          <a:solidFill>
                            <a:srgbClr val="FFFFFF"/>
                          </a:solidFill>
                          <a:latin typeface="Aptos"/>
                        </a:defRPr>
                      </a:pPr>
                      <a:r>
                        <a:t>Main limitation</a:t>
                      </a:r>
                    </a:p>
                  </a:txBody>
                  <a:tcPr>
                    <a:solidFill>
                      <a:srgbClr val="12223E"/>
                    </a:solidFill>
                  </a:tcPr>
                </a:tc>
                <a:extLst>
                  <a:ext uri="{0D108BD9-81ED-4DB2-BD59-A6C34878D82A}">
                    <a16:rowId xmlns:a16="http://schemas.microsoft.com/office/drawing/2014/main" val="10000"/>
                  </a:ext>
                </a:extLst>
              </a:tr>
              <a:tr h="422910">
                <a:tc>
                  <a:txBody>
                    <a:bodyPr/>
                    <a:lstStyle/>
                    <a:p>
                      <a:pPr>
                        <a:defRPr sz="1000">
                          <a:solidFill>
                            <a:srgbClr val="1E293B"/>
                          </a:solidFill>
                          <a:latin typeface="Aptos"/>
                        </a:defRPr>
                      </a:pPr>
                      <a:r>
                        <a:t>Round-robin</a:t>
                      </a:r>
                    </a:p>
                  </a:txBody>
                  <a:tcPr>
                    <a:solidFill>
                      <a:srgbClr val="FFFFFF"/>
                    </a:solidFill>
                  </a:tcPr>
                </a:tc>
                <a:tc>
                  <a:txBody>
                    <a:bodyPr/>
                    <a:lstStyle/>
                    <a:p>
                      <a:pPr>
                        <a:defRPr sz="1000">
                          <a:solidFill>
                            <a:srgbClr val="1E293B"/>
                          </a:solidFill>
                          <a:latin typeface="Aptos"/>
                        </a:defRPr>
                      </a:pPr>
                      <a:r>
                        <a:t>none</a:t>
                      </a:r>
                    </a:p>
                  </a:txBody>
                  <a:tcPr>
                    <a:solidFill>
                      <a:srgbClr val="FFFFFF"/>
                    </a:solidFill>
                  </a:tcPr>
                </a:tc>
                <a:tc>
                  <a:txBody>
                    <a:bodyPr/>
                    <a:lstStyle/>
                    <a:p>
                      <a:pPr>
                        <a:defRPr sz="1000">
                          <a:solidFill>
                            <a:srgbClr val="1E293B"/>
                          </a:solidFill>
                          <a:latin typeface="Aptos"/>
                        </a:defRPr>
                      </a:pPr>
                      <a:r>
                        <a:t>request</a:t>
                      </a:r>
                    </a:p>
                  </a:txBody>
                  <a:tcPr>
                    <a:solidFill>
                      <a:srgbClr val="FFFFFF"/>
                    </a:solidFill>
                  </a:tcPr>
                </a:tc>
                <a:tc>
                  <a:txBody>
                    <a:bodyPr/>
                    <a:lstStyle/>
                    <a:p>
                      <a:pPr>
                        <a:defRPr sz="1000">
                          <a:solidFill>
                            <a:srgbClr val="1E293B"/>
                          </a:solidFill>
                          <a:latin typeface="Aptos"/>
                        </a:defRPr>
                      </a:pPr>
                      <a:r>
                        <a:t>ignores server heterogeneity</a:t>
                      </a:r>
                    </a:p>
                  </a:txBody>
                  <a:tcPr>
                    <a:solidFill>
                      <a:srgbClr val="FFFFFF"/>
                    </a:solidFill>
                  </a:tcPr>
                </a:tc>
                <a:extLst>
                  <a:ext uri="{0D108BD9-81ED-4DB2-BD59-A6C34878D82A}">
                    <a16:rowId xmlns:a16="http://schemas.microsoft.com/office/drawing/2014/main" val="10001"/>
                  </a:ext>
                </a:extLst>
              </a:tr>
              <a:tr h="422910">
                <a:tc>
                  <a:txBody>
                    <a:bodyPr/>
                    <a:lstStyle/>
                    <a:p>
                      <a:pPr>
                        <a:defRPr sz="1000">
                          <a:solidFill>
                            <a:srgbClr val="1E293B"/>
                          </a:solidFill>
                          <a:latin typeface="Aptos"/>
                        </a:defRPr>
                      </a:pPr>
                      <a:r>
                        <a:t>Least-load / EWMA</a:t>
                      </a:r>
                    </a:p>
                  </a:txBody>
                  <a:tcPr>
                    <a:solidFill>
                      <a:srgbClr val="EFF6FF"/>
                    </a:solidFill>
                  </a:tcPr>
                </a:tc>
                <a:tc>
                  <a:txBody>
                    <a:bodyPr/>
                    <a:lstStyle/>
                    <a:p>
                      <a:pPr>
                        <a:defRPr sz="1000">
                          <a:solidFill>
                            <a:srgbClr val="1E293B"/>
                          </a:solidFill>
                          <a:latin typeface="Aptos"/>
                        </a:defRPr>
                      </a:pPr>
                      <a:r>
                        <a:t>port byte-rate</a:t>
                      </a:r>
                    </a:p>
                  </a:txBody>
                  <a:tcPr>
                    <a:solidFill>
                      <a:srgbClr val="EFF6FF"/>
                    </a:solidFill>
                  </a:tcPr>
                </a:tc>
                <a:tc>
                  <a:txBody>
                    <a:bodyPr/>
                    <a:lstStyle/>
                    <a:p>
                      <a:pPr>
                        <a:defRPr sz="1000">
                          <a:solidFill>
                            <a:srgbClr val="1E293B"/>
                          </a:solidFill>
                          <a:latin typeface="Aptos"/>
                        </a:defRPr>
                      </a:pPr>
                      <a:r>
                        <a:t>2 s poll / request</a:t>
                      </a:r>
                    </a:p>
                  </a:txBody>
                  <a:tcPr>
                    <a:solidFill>
                      <a:srgbClr val="EFF6FF"/>
                    </a:solidFill>
                  </a:tcPr>
                </a:tc>
                <a:tc>
                  <a:txBody>
                    <a:bodyPr/>
                    <a:lstStyle/>
                    <a:p>
                      <a:pPr>
                        <a:defRPr sz="1000">
                          <a:solidFill>
                            <a:srgbClr val="1E293B"/>
                          </a:solidFill>
                          <a:latin typeface="Aptos"/>
                        </a:defRPr>
                      </a:pPr>
                      <a:r>
                        <a:t>signal inverts for compute-bound servers</a:t>
                      </a:r>
                    </a:p>
                  </a:txBody>
                  <a:tcPr>
                    <a:solidFill>
                      <a:srgbClr val="EFF6FF"/>
                    </a:solidFill>
                  </a:tcPr>
                </a:tc>
                <a:extLst>
                  <a:ext uri="{0D108BD9-81ED-4DB2-BD59-A6C34878D82A}">
                    <a16:rowId xmlns:a16="http://schemas.microsoft.com/office/drawing/2014/main" val="10002"/>
                  </a:ext>
                </a:extLst>
              </a:tr>
              <a:tr h="422910">
                <a:tc>
                  <a:txBody>
                    <a:bodyPr/>
                    <a:lstStyle/>
                    <a:p>
                      <a:pPr>
                        <a:defRPr sz="1000">
                          <a:solidFill>
                            <a:srgbClr val="1E293B"/>
                          </a:solidFill>
                          <a:latin typeface="Aptos"/>
                        </a:defRPr>
                      </a:pPr>
                      <a:r>
                        <a:t>Capacity-aware (ours)</a:t>
                      </a:r>
                    </a:p>
                  </a:txBody>
                  <a:tcPr>
                    <a:solidFill>
                      <a:srgbClr val="FFFFFF"/>
                    </a:solidFill>
                  </a:tcPr>
                </a:tc>
                <a:tc>
                  <a:txBody>
                    <a:bodyPr/>
                    <a:lstStyle/>
                    <a:p>
                      <a:pPr>
                        <a:defRPr sz="1000">
                          <a:solidFill>
                            <a:srgbClr val="1E293B"/>
                          </a:solidFill>
                          <a:latin typeface="Aptos"/>
                        </a:defRPr>
                      </a:pPr>
                      <a:r>
                        <a:t>known service time</a:t>
                      </a:r>
                    </a:p>
                  </a:txBody>
                  <a:tcPr>
                    <a:solidFill>
                      <a:srgbClr val="FFFFFF"/>
                    </a:solidFill>
                  </a:tcPr>
                </a:tc>
                <a:tc>
                  <a:txBody>
                    <a:bodyPr/>
                    <a:lstStyle/>
                    <a:p>
                      <a:pPr>
                        <a:defRPr sz="1000">
                          <a:solidFill>
                            <a:srgbClr val="1E293B"/>
                          </a:solidFill>
                          <a:latin typeface="Aptos"/>
                        </a:defRPr>
                      </a:pPr>
                      <a:r>
                        <a:t>client</a:t>
                      </a:r>
                    </a:p>
                  </a:txBody>
                  <a:tcPr>
                    <a:solidFill>
                      <a:srgbClr val="FFFFFF"/>
                    </a:solidFill>
                  </a:tcPr>
                </a:tc>
                <a:tc>
                  <a:txBody>
                    <a:bodyPr/>
                    <a:lstStyle/>
                    <a:p>
                      <a:pPr>
                        <a:defRPr sz="1000">
                          <a:solidFill>
                            <a:srgbClr val="1E293B"/>
                          </a:solidFill>
                          <a:latin typeface="Aptos"/>
                        </a:defRPr>
                      </a:pPr>
                      <a:r>
                        <a:t>needs service times; assumes load is light enough</a:t>
                      </a:r>
                    </a:p>
                  </a:txBody>
                  <a:tcP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58368"/>
            <a:ext cx="11155680" cy="502920"/>
          </a:xfrm>
          <a:prstGeom prst="rect">
            <a:avLst/>
          </a:prstGeom>
          <a:noFill/>
        </p:spPr>
        <p:txBody>
          <a:bodyPr wrap="square" lIns="54864" tIns="27432" rIns="54864">
            <a:spAutoFit/>
          </a:bodyPr>
          <a:lstStyle/>
          <a:p>
            <a:pPr algn="l"/>
            <a:r>
              <a:rPr sz="2600" b="1">
                <a:solidFill>
                  <a:srgbClr val="12223E"/>
                </a:solidFill>
                <a:latin typeface="Aptos"/>
              </a:rPr>
              <a:t>Proposed system architecture</a:t>
            </a:r>
          </a:p>
        </p:txBody>
      </p:sp>
      <p:sp>
        <p:nvSpPr>
          <p:cNvPr id="5" name="Rectangle 4"/>
          <p:cNvSpPr/>
          <p:nvPr/>
        </p:nvSpPr>
        <p:spPr>
          <a:xfrm>
            <a:off x="502920" y="1261872"/>
            <a:ext cx="11155680"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064240" y="6510528"/>
            <a:ext cx="548640" cy="182880"/>
          </a:xfrm>
          <a:prstGeom prst="rect">
            <a:avLst/>
          </a:prstGeom>
          <a:noFill/>
        </p:spPr>
        <p:txBody>
          <a:bodyPr wrap="square" lIns="54864" tIns="27432" rIns="54864">
            <a:spAutoFit/>
          </a:bodyPr>
          <a:lstStyle/>
          <a:p>
            <a:pPr algn="r"/>
            <a:r>
              <a:rPr sz="900" b="1">
                <a:solidFill>
                  <a:srgbClr val="64748B"/>
                </a:solidFill>
                <a:latin typeface="Aptos"/>
              </a:rPr>
              <a:t>05</a:t>
            </a:r>
          </a:p>
        </p:txBody>
      </p:sp>
      <p:sp>
        <p:nvSpPr>
          <p:cNvPr id="8" name="Rounded Rectangle 7"/>
          <p:cNvSpPr/>
          <p:nvPr/>
        </p:nvSpPr>
        <p:spPr>
          <a:xfrm>
            <a:off x="594360" y="1554480"/>
            <a:ext cx="6858000" cy="4114800"/>
          </a:xfrm>
          <a:prstGeom prst="roundRect">
            <a:avLst>
              <a:gd name="adj" fmla="val 12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0664" y="1664207"/>
            <a:ext cx="6565392" cy="256032"/>
          </a:xfrm>
          <a:prstGeom prst="rect">
            <a:avLst/>
          </a:prstGeom>
          <a:noFill/>
        </p:spPr>
        <p:txBody>
          <a:bodyPr wrap="square" lIns="54864" tIns="27432" rIns="54864">
            <a:spAutoFit/>
          </a:bodyPr>
          <a:lstStyle/>
          <a:p>
            <a:pPr algn="l"/>
            <a:r>
              <a:rPr sz="1300" b="1">
                <a:solidFill>
                  <a:srgbClr val="2563EB"/>
                </a:solidFill>
                <a:latin typeface="Aptos"/>
              </a:rPr>
              <a:t>ARCHITECTURE DIAGRAM</a:t>
            </a:r>
          </a:p>
        </p:txBody>
      </p:sp>
      <p:sp>
        <p:nvSpPr>
          <p:cNvPr id="11" name="Rounded Rectangle 10"/>
          <p:cNvSpPr/>
          <p:nvPr/>
        </p:nvSpPr>
        <p:spPr>
          <a:xfrm>
            <a:off x="7726679" y="1554480"/>
            <a:ext cx="3886200" cy="1188720"/>
          </a:xfrm>
          <a:prstGeom prst="roundRect">
            <a:avLst>
              <a:gd name="adj" fmla="val 12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872983" y="1664207"/>
            <a:ext cx="3593592" cy="256032"/>
          </a:xfrm>
          <a:prstGeom prst="rect">
            <a:avLst/>
          </a:prstGeom>
          <a:noFill/>
        </p:spPr>
        <p:txBody>
          <a:bodyPr wrap="square" lIns="54864" tIns="27432" rIns="54864">
            <a:spAutoFit/>
          </a:bodyPr>
          <a:lstStyle/>
          <a:p>
            <a:pPr algn="l"/>
            <a:r>
              <a:rPr sz="1300" b="1">
                <a:solidFill>
                  <a:srgbClr val="2563EB"/>
                </a:solidFill>
                <a:latin typeface="Aptos"/>
              </a:rPr>
              <a:t>COMPONENTS</a:t>
            </a:r>
          </a:p>
        </p:txBody>
      </p:sp>
      <p:sp>
        <p:nvSpPr>
          <p:cNvPr id="13" name="TextBox 12"/>
          <p:cNvSpPr txBox="1"/>
          <p:nvPr/>
        </p:nvSpPr>
        <p:spPr>
          <a:xfrm>
            <a:off x="7872983" y="1993391"/>
            <a:ext cx="3593592" cy="685800"/>
          </a:xfrm>
          <a:prstGeom prst="rect">
            <a:avLst/>
          </a:prstGeom>
          <a:noFill/>
        </p:spPr>
        <p:txBody>
          <a:bodyPr wrap="square" lIns="54864" tIns="27432" rIns="54864">
            <a:spAutoFit/>
          </a:bodyPr>
          <a:lstStyle/>
          <a:p>
            <a:pPr algn="l"/>
            <a:r>
              <a:rPr sz="1100" b="0">
                <a:solidFill>
                  <a:srgbClr val="64748B"/>
                </a:solidFill>
                <a:latin typeface="Aptos"/>
              </a:rPr>
              <a:t>OVS switch with VIP 10.0.0.100; Ryu controller runs one swappable policy module.</a:t>
            </a:r>
          </a:p>
          <a:p>
            <a:pPr algn="l"/>
            <a:r>
              <a:rPr sz="1100" b="0">
                <a:solidFill>
                  <a:srgbClr val="64748B"/>
                </a:solidFill>
                <a:latin typeface="Aptos"/>
              </a:rPr>
              <a:t>Three single-threaded backends; four flash-crowd clients.</a:t>
            </a:r>
          </a:p>
        </p:txBody>
      </p:sp>
      <p:sp>
        <p:nvSpPr>
          <p:cNvPr id="14" name="Rounded Rectangle 13"/>
          <p:cNvSpPr/>
          <p:nvPr/>
        </p:nvSpPr>
        <p:spPr>
          <a:xfrm>
            <a:off x="7726679" y="2926080"/>
            <a:ext cx="3886200" cy="1188720"/>
          </a:xfrm>
          <a:prstGeom prst="roundRect">
            <a:avLst>
              <a:gd name="adj" fmla="val 12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872983" y="3035808"/>
            <a:ext cx="3593592" cy="256032"/>
          </a:xfrm>
          <a:prstGeom prst="rect">
            <a:avLst/>
          </a:prstGeom>
          <a:noFill/>
        </p:spPr>
        <p:txBody>
          <a:bodyPr wrap="square" lIns="54864" tIns="27432" rIns="54864">
            <a:spAutoFit/>
          </a:bodyPr>
          <a:lstStyle/>
          <a:p>
            <a:pPr algn="l"/>
            <a:r>
              <a:rPr sz="1300" b="1">
                <a:solidFill>
                  <a:srgbClr val="2563EB"/>
                </a:solidFill>
                <a:latin typeface="Aptos"/>
              </a:rPr>
              <a:t>DESIGN DECISIONS</a:t>
            </a:r>
          </a:p>
        </p:txBody>
      </p:sp>
      <p:sp>
        <p:nvSpPr>
          <p:cNvPr id="16" name="TextBox 15"/>
          <p:cNvSpPr txBox="1"/>
          <p:nvPr/>
        </p:nvSpPr>
        <p:spPr>
          <a:xfrm>
            <a:off x="7872983" y="3364992"/>
            <a:ext cx="3593592" cy="685800"/>
          </a:xfrm>
          <a:prstGeom prst="rect">
            <a:avLst/>
          </a:prstGeom>
          <a:noFill/>
        </p:spPr>
        <p:txBody>
          <a:bodyPr wrap="square" lIns="54864" tIns="27432" rIns="54864">
            <a:spAutoFit/>
          </a:bodyPr>
          <a:lstStyle/>
          <a:p>
            <a:pPr algn="l"/>
            <a:r>
              <a:rPr sz="1100" b="0">
                <a:solidFill>
                  <a:srgbClr val="64748B"/>
                </a:solidFill>
                <a:latin typeface="Aptos"/>
              </a:rPr>
              <a:t>Mininet for control and repeatability; OpenFlow 1.3 for port-stats / flow-removed signals; one switch so routing choice, not topology, drives the result.</a:t>
            </a:r>
          </a:p>
        </p:txBody>
      </p:sp>
      <p:sp>
        <p:nvSpPr>
          <p:cNvPr id="17" name="Rounded Rectangle 16"/>
          <p:cNvSpPr/>
          <p:nvPr/>
        </p:nvSpPr>
        <p:spPr>
          <a:xfrm>
            <a:off x="7726679" y="4297680"/>
            <a:ext cx="3886200" cy="1371600"/>
          </a:xfrm>
          <a:prstGeom prst="roundRect">
            <a:avLst>
              <a:gd name="adj" fmla="val 12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872983" y="4407408"/>
            <a:ext cx="3593592" cy="256032"/>
          </a:xfrm>
          <a:prstGeom prst="rect">
            <a:avLst/>
          </a:prstGeom>
          <a:noFill/>
        </p:spPr>
        <p:txBody>
          <a:bodyPr wrap="square" lIns="54864" tIns="27432" rIns="54864">
            <a:spAutoFit/>
          </a:bodyPr>
          <a:lstStyle/>
          <a:p>
            <a:pPr algn="l"/>
            <a:r>
              <a:rPr sz="1300" b="1">
                <a:solidFill>
                  <a:srgbClr val="2563EB"/>
                </a:solidFill>
                <a:latin typeface="Aptos"/>
              </a:rPr>
              <a:t>NETWORK PARAMETERS</a:t>
            </a:r>
          </a:p>
        </p:txBody>
      </p:sp>
      <p:sp>
        <p:nvSpPr>
          <p:cNvPr id="19" name="TextBox 18"/>
          <p:cNvSpPr txBox="1"/>
          <p:nvPr/>
        </p:nvSpPr>
        <p:spPr>
          <a:xfrm>
            <a:off x="7872983" y="4736592"/>
            <a:ext cx="3593592" cy="868680"/>
          </a:xfrm>
          <a:prstGeom prst="rect">
            <a:avLst/>
          </a:prstGeom>
          <a:noFill/>
        </p:spPr>
        <p:txBody>
          <a:bodyPr wrap="square" lIns="54864" tIns="27432" rIns="54864">
            <a:spAutoFit/>
          </a:bodyPr>
          <a:lstStyle/>
          <a:p>
            <a:pPr algn="l"/>
            <a:r>
              <a:rPr sz="1100" b="0">
                <a:solidFill>
                  <a:srgbClr val="64748B"/>
                </a:solidFill>
                <a:latin typeface="Aptos"/>
              </a:rPr>
              <a:t>VIP 10.0.0.100; servers at 20/40/80 ms; 4 clients; 10 Mbit / 1 ms links; poll 2 s; 480 requests per run.</a:t>
            </a:r>
          </a:p>
        </p:txBody>
      </p:sp>
      <p:pic>
        <p:nvPicPr>
          <p:cNvPr id="20" name="Picture 19" descr="arch.png"/>
          <p:cNvPicPr>
            <a:picLocks noChangeAspect="1"/>
          </p:cNvPicPr>
          <p:nvPr/>
        </p:nvPicPr>
        <p:blipFill>
          <a:blip r:embed="rId2"/>
          <a:stretch>
            <a:fillRect/>
          </a:stretch>
        </p:blipFill>
        <p:spPr>
          <a:xfrm>
            <a:off x="740664" y="2051619"/>
            <a:ext cx="6565392" cy="349542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58368"/>
            <a:ext cx="11155680" cy="502920"/>
          </a:xfrm>
          <a:prstGeom prst="rect">
            <a:avLst/>
          </a:prstGeom>
          <a:noFill/>
        </p:spPr>
        <p:txBody>
          <a:bodyPr wrap="square" lIns="54864" tIns="27432" rIns="54864">
            <a:spAutoFit/>
          </a:bodyPr>
          <a:lstStyle/>
          <a:p>
            <a:pPr algn="l"/>
            <a:r>
              <a:rPr sz="2600" b="1">
                <a:solidFill>
                  <a:srgbClr val="12223E"/>
                </a:solidFill>
                <a:latin typeface="Aptos"/>
              </a:rPr>
              <a:t>Implementation and configuration</a:t>
            </a:r>
          </a:p>
        </p:txBody>
      </p:sp>
      <p:sp>
        <p:nvSpPr>
          <p:cNvPr id="5" name="Rectangle 4"/>
          <p:cNvSpPr/>
          <p:nvPr/>
        </p:nvSpPr>
        <p:spPr>
          <a:xfrm>
            <a:off x="502920" y="1261872"/>
            <a:ext cx="11155680"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064240" y="6510528"/>
            <a:ext cx="548640" cy="182880"/>
          </a:xfrm>
          <a:prstGeom prst="rect">
            <a:avLst/>
          </a:prstGeom>
          <a:noFill/>
        </p:spPr>
        <p:txBody>
          <a:bodyPr wrap="square" lIns="54864" tIns="27432" rIns="54864">
            <a:spAutoFit/>
          </a:bodyPr>
          <a:lstStyle/>
          <a:p>
            <a:pPr algn="r"/>
            <a:r>
              <a:rPr sz="900" b="1">
                <a:solidFill>
                  <a:srgbClr val="64748B"/>
                </a:solidFill>
                <a:latin typeface="Aptos"/>
              </a:rPr>
              <a:t>06</a:t>
            </a:r>
          </a:p>
        </p:txBody>
      </p:sp>
      <p:sp>
        <p:nvSpPr>
          <p:cNvPr id="8" name="Rounded Rectangle 7"/>
          <p:cNvSpPr/>
          <p:nvPr/>
        </p:nvSpPr>
        <p:spPr>
          <a:xfrm>
            <a:off x="594360" y="1554480"/>
            <a:ext cx="5394960" cy="1737360"/>
          </a:xfrm>
          <a:prstGeom prst="roundRect">
            <a:avLst>
              <a:gd name="adj" fmla="val 12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0664" y="1664207"/>
            <a:ext cx="5102352" cy="256032"/>
          </a:xfrm>
          <a:prstGeom prst="rect">
            <a:avLst/>
          </a:prstGeom>
          <a:noFill/>
        </p:spPr>
        <p:txBody>
          <a:bodyPr wrap="square" lIns="54864" tIns="27432" rIns="54864">
            <a:spAutoFit/>
          </a:bodyPr>
          <a:lstStyle/>
          <a:p>
            <a:pPr algn="l"/>
            <a:r>
              <a:rPr sz="1300" b="1">
                <a:solidFill>
                  <a:srgbClr val="2563EB"/>
                </a:solidFill>
                <a:latin typeface="Aptos"/>
              </a:rPr>
              <a:t>TOOLS AND ENVIRONMENT</a:t>
            </a:r>
          </a:p>
        </p:txBody>
      </p:sp>
      <p:sp>
        <p:nvSpPr>
          <p:cNvPr id="10" name="TextBox 9"/>
          <p:cNvSpPr txBox="1"/>
          <p:nvPr/>
        </p:nvSpPr>
        <p:spPr>
          <a:xfrm>
            <a:off x="740664" y="1993391"/>
            <a:ext cx="5102352" cy="1234439"/>
          </a:xfrm>
          <a:prstGeom prst="rect">
            <a:avLst/>
          </a:prstGeom>
          <a:noFill/>
        </p:spPr>
        <p:txBody>
          <a:bodyPr wrap="square" lIns="54864" tIns="27432" rIns="54864">
            <a:spAutoFit/>
          </a:bodyPr>
          <a:lstStyle/>
          <a:p>
            <a:pPr algn="l"/>
            <a:r>
              <a:rPr sz="1400" b="0">
                <a:solidFill>
                  <a:srgbClr val="64748B"/>
                </a:solidFill>
                <a:latin typeface="Aptos"/>
              </a:rPr>
              <a:t>Mininet 2.3.1, Open vSwitch 2.17, Ryu 4.34, Python 3.10.</a:t>
            </a:r>
          </a:p>
          <a:p>
            <a:pPr algn="l"/>
            <a:r>
              <a:rPr sz="1400" b="0">
                <a:solidFill>
                  <a:srgbClr val="64748B"/>
                </a:solidFill>
                <a:latin typeface="Aptos"/>
              </a:rPr>
              <a:t>Custom slow HTTP server, load generator, and analysis scripts; all policies share one controller framework.</a:t>
            </a:r>
          </a:p>
        </p:txBody>
      </p:sp>
      <p:sp>
        <p:nvSpPr>
          <p:cNvPr id="11" name="Rounded Rectangle 10"/>
          <p:cNvSpPr/>
          <p:nvPr/>
        </p:nvSpPr>
        <p:spPr>
          <a:xfrm>
            <a:off x="6217920" y="1554480"/>
            <a:ext cx="5394960" cy="1737360"/>
          </a:xfrm>
          <a:prstGeom prst="roundRect">
            <a:avLst>
              <a:gd name="adj" fmla="val 12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64224" y="1664207"/>
            <a:ext cx="5102352" cy="256032"/>
          </a:xfrm>
          <a:prstGeom prst="rect">
            <a:avLst/>
          </a:prstGeom>
          <a:noFill/>
        </p:spPr>
        <p:txBody>
          <a:bodyPr wrap="square" lIns="54864" tIns="27432" rIns="54864">
            <a:spAutoFit/>
          </a:bodyPr>
          <a:lstStyle/>
          <a:p>
            <a:pPr algn="l"/>
            <a:r>
              <a:rPr sz="1300" b="1">
                <a:solidFill>
                  <a:srgbClr val="2563EB"/>
                </a:solidFill>
                <a:latin typeface="Aptos"/>
              </a:rPr>
              <a:t>IMPLEMENTATION STEPS</a:t>
            </a:r>
          </a:p>
        </p:txBody>
      </p:sp>
      <p:sp>
        <p:nvSpPr>
          <p:cNvPr id="13" name="TextBox 12"/>
          <p:cNvSpPr txBox="1"/>
          <p:nvPr/>
        </p:nvSpPr>
        <p:spPr>
          <a:xfrm>
            <a:off x="6364224" y="1993391"/>
            <a:ext cx="5102352" cy="1234439"/>
          </a:xfrm>
          <a:prstGeom prst="rect">
            <a:avLst/>
          </a:prstGeom>
          <a:noFill/>
        </p:spPr>
        <p:txBody>
          <a:bodyPr wrap="square" lIns="54864" tIns="27432" rIns="54864">
            <a:spAutoFit/>
          </a:bodyPr>
          <a:lstStyle/>
          <a:p>
            <a:pPr algn="l"/>
            <a:r>
              <a:rPr sz="1100" b="0">
                <a:solidFill>
                  <a:srgbClr val="64748B"/>
                </a:solidFill>
                <a:latin typeface="Aptos"/>
              </a:rPr>
              <a:t>1. Build topology: 1 switch, 3 servers, 4 clients, VIP.</a:t>
            </a:r>
          </a:p>
          <a:p>
            <a:pPr algn="l"/>
            <a:r>
              <a:rPr sz="1100" b="0">
                <a:solidFill>
                  <a:srgbClr val="64748B"/>
                </a:solidFill>
                <a:latin typeface="Aptos"/>
              </a:rPr>
              <a:t>2. Start the chosen Ryu policy; install table-miss to controller.</a:t>
            </a:r>
          </a:p>
          <a:p>
            <a:pPr algn="l"/>
            <a:r>
              <a:rPr sz="1100" b="0">
                <a:solidFill>
                  <a:srgbClr val="64748B"/>
                </a:solidFill>
                <a:latin typeface="Aptos"/>
              </a:rPr>
              <a:t>3. On first packet to VIP, pick a backend and install forward + reverse flows.</a:t>
            </a:r>
          </a:p>
          <a:p>
            <a:pPr algn="l"/>
            <a:r>
              <a:rPr sz="1100" b="0">
                <a:solidFill>
                  <a:srgbClr val="64748B"/>
                </a:solidFill>
                <a:latin typeface="Aptos"/>
              </a:rPr>
              <a:t>4. Replay flash-crowd trace; collect per-request latency; aggregate over 7 runs.</a:t>
            </a:r>
          </a:p>
        </p:txBody>
      </p:sp>
      <p:sp>
        <p:nvSpPr>
          <p:cNvPr id="14" name="Rounded Rectangle 13"/>
          <p:cNvSpPr/>
          <p:nvPr/>
        </p:nvSpPr>
        <p:spPr>
          <a:xfrm>
            <a:off x="594360" y="3566160"/>
            <a:ext cx="5394960" cy="2148840"/>
          </a:xfrm>
          <a:prstGeom prst="roundRect">
            <a:avLst>
              <a:gd name="adj" fmla="val 12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0664" y="3675887"/>
            <a:ext cx="5102352" cy="256032"/>
          </a:xfrm>
          <a:prstGeom prst="rect">
            <a:avLst/>
          </a:prstGeom>
          <a:noFill/>
        </p:spPr>
        <p:txBody>
          <a:bodyPr wrap="square" lIns="54864" tIns="27432" rIns="54864">
            <a:spAutoFit/>
          </a:bodyPr>
          <a:lstStyle/>
          <a:p>
            <a:pPr algn="l"/>
            <a:r>
              <a:rPr sz="1300" b="1">
                <a:solidFill>
                  <a:srgbClr val="2563EB"/>
                </a:solidFill>
                <a:latin typeface="Aptos"/>
              </a:rPr>
              <a:t>KEY CONFIGURATION / CODE</a:t>
            </a:r>
          </a:p>
        </p:txBody>
      </p:sp>
      <p:sp>
        <p:nvSpPr>
          <p:cNvPr id="16" name="TextBox 15"/>
          <p:cNvSpPr txBox="1"/>
          <p:nvPr/>
        </p:nvSpPr>
        <p:spPr>
          <a:xfrm>
            <a:off x="740664" y="4005072"/>
            <a:ext cx="5102352" cy="1645920"/>
          </a:xfrm>
          <a:prstGeom prst="rect">
            <a:avLst/>
          </a:prstGeom>
          <a:noFill/>
        </p:spPr>
        <p:txBody>
          <a:bodyPr wrap="square" lIns="54864" tIns="27432" rIns="54864">
            <a:spAutoFit/>
          </a:bodyPr>
          <a:lstStyle/>
          <a:p>
            <a:pPr algn="l"/>
            <a:r>
              <a:rPr sz="1400" b="0">
                <a:solidFill>
                  <a:srgbClr val="64748B"/>
                </a:solidFill>
                <a:latin typeface="Aptos"/>
              </a:rPr>
              <a:t>Capacity-aware selection (per client):</a:t>
            </a:r>
          </a:p>
          <a:p>
            <a:pPr algn="l"/>
            <a:r>
              <a:rPr sz="1400" b="0">
                <a:solidFill>
                  <a:srgbClr val="64748B"/>
                </a:solidFill>
                <a:latin typeface="Aptos"/>
              </a:rPr>
              <a:t>proj_i = (clients_on[i] + 1) x service_ms[i]</a:t>
            </a:r>
          </a:p>
          <a:p>
            <a:pPr algn="l"/>
            <a:r>
              <a:rPr sz="1400" b="0">
                <a:solidFill>
                  <a:srgbClr val="64748B"/>
                </a:solidFill>
                <a:latin typeface="Aptos"/>
              </a:rPr>
              <a:t>assign client to argmin proj_i, then pin it there.</a:t>
            </a:r>
          </a:p>
          <a:p>
            <a:pPr algn="l"/>
            <a:r>
              <a:rPr sz="1400" b="0">
                <a:solidFill>
                  <a:srgbClr val="64748B"/>
                </a:solidFill>
                <a:latin typeface="Aptos"/>
              </a:rPr>
              <a:t>Forward rule rewrites VIP -&gt; backend MAC/IP; reverse rule restores the VIP.</a:t>
            </a:r>
          </a:p>
        </p:txBody>
      </p:sp>
      <p:sp>
        <p:nvSpPr>
          <p:cNvPr id="17" name="Rounded Rectangle 16"/>
          <p:cNvSpPr/>
          <p:nvPr/>
        </p:nvSpPr>
        <p:spPr>
          <a:xfrm>
            <a:off x="6217920" y="3566160"/>
            <a:ext cx="5394960" cy="2148840"/>
          </a:xfrm>
          <a:prstGeom prst="roundRect">
            <a:avLst>
              <a:gd name="adj" fmla="val 12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64224" y="3675887"/>
            <a:ext cx="5102352" cy="256032"/>
          </a:xfrm>
          <a:prstGeom prst="rect">
            <a:avLst/>
          </a:prstGeom>
          <a:noFill/>
        </p:spPr>
        <p:txBody>
          <a:bodyPr wrap="square" lIns="54864" tIns="27432" rIns="54864">
            <a:spAutoFit/>
          </a:bodyPr>
          <a:lstStyle/>
          <a:p>
            <a:pPr algn="l"/>
            <a:r>
              <a:rPr sz="1300" b="1">
                <a:solidFill>
                  <a:srgbClr val="2563EB"/>
                </a:solidFill>
                <a:latin typeface="Aptos"/>
              </a:rPr>
              <a:t>DEMO EVIDENCE</a:t>
            </a:r>
          </a:p>
        </p:txBody>
      </p:sp>
      <p:sp>
        <p:nvSpPr>
          <p:cNvPr id="19" name="TextBox 18"/>
          <p:cNvSpPr txBox="1"/>
          <p:nvPr/>
        </p:nvSpPr>
        <p:spPr>
          <a:xfrm>
            <a:off x="6364224" y="4005072"/>
            <a:ext cx="5102352" cy="1645920"/>
          </a:xfrm>
          <a:prstGeom prst="rect">
            <a:avLst/>
          </a:prstGeom>
          <a:noFill/>
        </p:spPr>
        <p:txBody>
          <a:bodyPr wrap="square" lIns="54864" tIns="27432" rIns="54864">
            <a:spAutoFit/>
          </a:bodyPr>
          <a:lstStyle/>
          <a:p>
            <a:pPr algn="l"/>
            <a:r>
              <a:rPr sz="1400" b="0">
                <a:solidFill>
                  <a:srgbClr val="64748B"/>
                </a:solidFill>
                <a:latin typeface="Aptos"/>
              </a:rPr>
              <a:t>Controller logs show per-flow assignment and clients_on; for 20/40/80 ms it settles on 3 clients to the fast server, 1 to the medium, 0 to the slow one.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58368"/>
            <a:ext cx="11155680" cy="502920"/>
          </a:xfrm>
          <a:prstGeom prst="rect">
            <a:avLst/>
          </a:prstGeom>
          <a:noFill/>
        </p:spPr>
        <p:txBody>
          <a:bodyPr wrap="square" lIns="54864" tIns="27432" rIns="54864">
            <a:spAutoFit/>
          </a:bodyPr>
          <a:lstStyle/>
          <a:p>
            <a:pPr algn="l"/>
            <a:r>
              <a:rPr sz="2600" b="1">
                <a:solidFill>
                  <a:srgbClr val="12223E"/>
                </a:solidFill>
                <a:latin typeface="Aptos"/>
              </a:rPr>
              <a:t>Test plan and validation</a:t>
            </a:r>
          </a:p>
        </p:txBody>
      </p:sp>
      <p:sp>
        <p:nvSpPr>
          <p:cNvPr id="5" name="Rectangle 4"/>
          <p:cNvSpPr/>
          <p:nvPr/>
        </p:nvSpPr>
        <p:spPr>
          <a:xfrm>
            <a:off x="502920" y="1261872"/>
            <a:ext cx="11155680"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064240" y="6510528"/>
            <a:ext cx="548640" cy="182880"/>
          </a:xfrm>
          <a:prstGeom prst="rect">
            <a:avLst/>
          </a:prstGeom>
          <a:noFill/>
        </p:spPr>
        <p:txBody>
          <a:bodyPr wrap="square" lIns="54864" tIns="27432" rIns="54864">
            <a:spAutoFit/>
          </a:bodyPr>
          <a:lstStyle/>
          <a:p>
            <a:pPr algn="r"/>
            <a:r>
              <a:rPr sz="900" b="1">
                <a:solidFill>
                  <a:srgbClr val="64748B"/>
                </a:solidFill>
                <a:latin typeface="Aptos"/>
              </a:rPr>
              <a:t>07</a:t>
            </a:r>
          </a:p>
        </p:txBody>
      </p:sp>
      <p:sp>
        <p:nvSpPr>
          <p:cNvPr id="8" name="Rounded Rectangle 7"/>
          <p:cNvSpPr/>
          <p:nvPr/>
        </p:nvSpPr>
        <p:spPr>
          <a:xfrm>
            <a:off x="594360" y="1554480"/>
            <a:ext cx="3520440" cy="1645920"/>
          </a:xfrm>
          <a:prstGeom prst="roundRect">
            <a:avLst>
              <a:gd name="adj" fmla="val 12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0664" y="1664207"/>
            <a:ext cx="3227832" cy="256032"/>
          </a:xfrm>
          <a:prstGeom prst="rect">
            <a:avLst/>
          </a:prstGeom>
          <a:noFill/>
        </p:spPr>
        <p:txBody>
          <a:bodyPr wrap="square" lIns="54864" tIns="27432" rIns="54864">
            <a:spAutoFit/>
          </a:bodyPr>
          <a:lstStyle/>
          <a:p>
            <a:pPr algn="l"/>
            <a:r>
              <a:rPr sz="1300" b="1">
                <a:solidFill>
                  <a:srgbClr val="2563EB"/>
                </a:solidFill>
                <a:latin typeface="Aptos"/>
              </a:rPr>
              <a:t>TEST SCENARIOS</a:t>
            </a:r>
          </a:p>
        </p:txBody>
      </p:sp>
      <p:sp>
        <p:nvSpPr>
          <p:cNvPr id="10" name="TextBox 9"/>
          <p:cNvSpPr txBox="1"/>
          <p:nvPr/>
        </p:nvSpPr>
        <p:spPr>
          <a:xfrm>
            <a:off x="740664" y="1993391"/>
            <a:ext cx="3227832" cy="1143000"/>
          </a:xfrm>
          <a:prstGeom prst="rect">
            <a:avLst/>
          </a:prstGeom>
          <a:noFill/>
        </p:spPr>
        <p:txBody>
          <a:bodyPr wrap="square" lIns="54864" tIns="27432" rIns="54864">
            <a:spAutoFit/>
          </a:bodyPr>
          <a:lstStyle/>
          <a:p>
            <a:pPr algn="l"/>
            <a:r>
              <a:rPr sz="1100" b="0">
                <a:solidFill>
                  <a:srgbClr val="64748B"/>
                </a:solidFill>
                <a:latin typeface="Aptos"/>
              </a:rPr>
              <a:t>Normal: steady request arrivals at moderate rate.</a:t>
            </a:r>
          </a:p>
          <a:p>
            <a:pPr algn="l"/>
            <a:r>
              <a:rPr sz="1100" b="0">
                <a:solidFill>
                  <a:srgbClr val="64748B"/>
                </a:solidFill>
                <a:latin typeface="Aptos"/>
              </a:rPr>
              <a:t>Flash crowd: bursty arrivals (World Cup trace shape).</a:t>
            </a:r>
          </a:p>
          <a:p>
            <a:pPr algn="l"/>
            <a:r>
              <a:rPr sz="1100" b="0">
                <a:solidFill>
                  <a:srgbClr val="64748B"/>
                </a:solidFill>
                <a:latin typeface="Aptos"/>
              </a:rPr>
              <a:t>Heterogeneous pool stress: 20/40/80 ms backends.</a:t>
            </a:r>
          </a:p>
        </p:txBody>
      </p:sp>
      <p:sp>
        <p:nvSpPr>
          <p:cNvPr id="11" name="Rounded Rectangle 10"/>
          <p:cNvSpPr/>
          <p:nvPr/>
        </p:nvSpPr>
        <p:spPr>
          <a:xfrm>
            <a:off x="4315968" y="1554480"/>
            <a:ext cx="3520440" cy="1645920"/>
          </a:xfrm>
          <a:prstGeom prst="roundRect">
            <a:avLst>
              <a:gd name="adj" fmla="val 12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62272" y="1664207"/>
            <a:ext cx="3227832" cy="256032"/>
          </a:xfrm>
          <a:prstGeom prst="rect">
            <a:avLst/>
          </a:prstGeom>
          <a:noFill/>
        </p:spPr>
        <p:txBody>
          <a:bodyPr wrap="square" lIns="54864" tIns="27432" rIns="54864">
            <a:spAutoFit/>
          </a:bodyPr>
          <a:lstStyle/>
          <a:p>
            <a:pPr algn="l"/>
            <a:r>
              <a:rPr sz="1300" b="1">
                <a:solidFill>
                  <a:srgbClr val="2563EB"/>
                </a:solidFill>
                <a:latin typeface="Aptos"/>
              </a:rPr>
              <a:t>EXPECTED RESULTS</a:t>
            </a:r>
          </a:p>
        </p:txBody>
      </p:sp>
      <p:sp>
        <p:nvSpPr>
          <p:cNvPr id="13" name="TextBox 12"/>
          <p:cNvSpPr txBox="1"/>
          <p:nvPr/>
        </p:nvSpPr>
        <p:spPr>
          <a:xfrm>
            <a:off x="4462272" y="1993391"/>
            <a:ext cx="3227832" cy="1143000"/>
          </a:xfrm>
          <a:prstGeom prst="rect">
            <a:avLst/>
          </a:prstGeom>
          <a:noFill/>
        </p:spPr>
        <p:txBody>
          <a:bodyPr wrap="square" lIns="54864" tIns="27432" rIns="54864">
            <a:spAutoFit/>
          </a:bodyPr>
          <a:lstStyle/>
          <a:p>
            <a:pPr algn="l"/>
            <a:r>
              <a:rPr sz="1400" b="0">
                <a:solidFill>
                  <a:srgbClr val="64748B"/>
                </a:solidFill>
                <a:latin typeface="Aptos"/>
              </a:rPr>
              <a:t>Load-aware policies should lower tail latency vs round-robin if the signal is correct.</a:t>
            </a:r>
          </a:p>
          <a:p>
            <a:pPr algn="l"/>
            <a:r>
              <a:rPr sz="1400" b="0">
                <a:solidFill>
                  <a:srgbClr val="64748B"/>
                </a:solidFill>
                <a:latin typeface="Aptos"/>
              </a:rPr>
              <a:t>Success rate must stay at 100% for a policy to count as better.</a:t>
            </a:r>
          </a:p>
        </p:txBody>
      </p:sp>
      <p:sp>
        <p:nvSpPr>
          <p:cNvPr id="14" name="Rounded Rectangle 13"/>
          <p:cNvSpPr/>
          <p:nvPr/>
        </p:nvSpPr>
        <p:spPr>
          <a:xfrm>
            <a:off x="8028431" y="1554480"/>
            <a:ext cx="3520440" cy="1645920"/>
          </a:xfrm>
          <a:prstGeom prst="roundRect">
            <a:avLst>
              <a:gd name="adj" fmla="val 12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74736" y="1664207"/>
            <a:ext cx="3227832" cy="256032"/>
          </a:xfrm>
          <a:prstGeom prst="rect">
            <a:avLst/>
          </a:prstGeom>
          <a:noFill/>
        </p:spPr>
        <p:txBody>
          <a:bodyPr wrap="square" lIns="54864" tIns="27432" rIns="54864">
            <a:spAutoFit/>
          </a:bodyPr>
          <a:lstStyle/>
          <a:p>
            <a:pPr algn="l"/>
            <a:r>
              <a:rPr sz="1300" b="1">
                <a:solidFill>
                  <a:srgbClr val="2563EB"/>
                </a:solidFill>
                <a:latin typeface="Aptos"/>
              </a:rPr>
              <a:t>OBSERVED RESULTS</a:t>
            </a:r>
          </a:p>
        </p:txBody>
      </p:sp>
      <p:sp>
        <p:nvSpPr>
          <p:cNvPr id="16" name="TextBox 15"/>
          <p:cNvSpPr txBox="1"/>
          <p:nvPr/>
        </p:nvSpPr>
        <p:spPr>
          <a:xfrm>
            <a:off x="8174736" y="1993391"/>
            <a:ext cx="3227832" cy="1143000"/>
          </a:xfrm>
          <a:prstGeom prst="rect">
            <a:avLst/>
          </a:prstGeom>
          <a:noFill/>
        </p:spPr>
        <p:txBody>
          <a:bodyPr wrap="square" lIns="54864" tIns="27432" rIns="54864">
            <a:spAutoFit/>
          </a:bodyPr>
          <a:lstStyle/>
          <a:p>
            <a:pPr algn="l"/>
            <a:r>
              <a:rPr sz="1100" b="0">
                <a:solidFill>
                  <a:srgbClr val="64748B"/>
                </a:solidFill>
                <a:latin typeface="Aptos"/>
              </a:rPr>
              <a:t>Reactive byte-rate policies did NOT beat round-robin; several were far worse.</a:t>
            </a:r>
          </a:p>
          <a:p>
            <a:pPr algn="l"/>
            <a:r>
              <a:rPr sz="1100" b="0">
                <a:solidFill>
                  <a:srgbClr val="64748B"/>
                </a:solidFill>
                <a:latin typeface="Aptos"/>
              </a:rPr>
              <a:t>The capacity-aware policy beat round-robin on every metric at 100% success.</a:t>
            </a:r>
          </a:p>
        </p:txBody>
      </p:sp>
      <p:sp>
        <p:nvSpPr>
          <p:cNvPr id="17" name="TextBox 16"/>
          <p:cNvSpPr txBox="1"/>
          <p:nvPr/>
        </p:nvSpPr>
        <p:spPr>
          <a:xfrm>
            <a:off x="685800" y="3474720"/>
            <a:ext cx="10058400" cy="274320"/>
          </a:xfrm>
          <a:prstGeom prst="rect">
            <a:avLst/>
          </a:prstGeom>
          <a:noFill/>
        </p:spPr>
        <p:txBody>
          <a:bodyPr wrap="square" lIns="54864" tIns="27432" rIns="54864">
            <a:spAutoFit/>
          </a:bodyPr>
          <a:lstStyle/>
          <a:p>
            <a:pPr algn="l"/>
            <a:r>
              <a:rPr sz="1600" b="1">
                <a:solidFill>
                  <a:srgbClr val="12223E"/>
                </a:solidFill>
                <a:latin typeface="Aptos"/>
              </a:rPr>
              <a:t>Test matrix</a:t>
            </a:r>
          </a:p>
        </p:txBody>
      </p:sp>
      <p:graphicFrame>
        <p:nvGraphicFramePr>
          <p:cNvPr id="18" name="Table 17"/>
          <p:cNvGraphicFramePr>
            <a:graphicFrameLocks noGrp="1"/>
          </p:cNvGraphicFramePr>
          <p:nvPr/>
        </p:nvGraphicFramePr>
        <p:xfrm>
          <a:off x="685800" y="3886200"/>
          <a:ext cx="10789920" cy="1691640"/>
        </p:xfrm>
        <a:graphic>
          <a:graphicData uri="http://schemas.openxmlformats.org/drawingml/2006/table">
            <a:tbl>
              <a:tblPr firstRow="1" bandRow="1">
                <a:tableStyleId>{5C22544A-7EE6-4342-B048-85BDC9FD1C3A}</a:tableStyleId>
              </a:tblPr>
              <a:tblGrid>
                <a:gridCol w="2157984">
                  <a:extLst>
                    <a:ext uri="{9D8B030D-6E8A-4147-A177-3AD203B41FA5}">
                      <a16:colId xmlns:a16="http://schemas.microsoft.com/office/drawing/2014/main" val="20000"/>
                    </a:ext>
                  </a:extLst>
                </a:gridCol>
                <a:gridCol w="2157984">
                  <a:extLst>
                    <a:ext uri="{9D8B030D-6E8A-4147-A177-3AD203B41FA5}">
                      <a16:colId xmlns:a16="http://schemas.microsoft.com/office/drawing/2014/main" val="20001"/>
                    </a:ext>
                  </a:extLst>
                </a:gridCol>
                <a:gridCol w="2157984">
                  <a:extLst>
                    <a:ext uri="{9D8B030D-6E8A-4147-A177-3AD203B41FA5}">
                      <a16:colId xmlns:a16="http://schemas.microsoft.com/office/drawing/2014/main" val="20002"/>
                    </a:ext>
                  </a:extLst>
                </a:gridCol>
                <a:gridCol w="2157984">
                  <a:extLst>
                    <a:ext uri="{9D8B030D-6E8A-4147-A177-3AD203B41FA5}">
                      <a16:colId xmlns:a16="http://schemas.microsoft.com/office/drawing/2014/main" val="20003"/>
                    </a:ext>
                  </a:extLst>
                </a:gridCol>
                <a:gridCol w="2157984">
                  <a:extLst>
                    <a:ext uri="{9D8B030D-6E8A-4147-A177-3AD203B41FA5}">
                      <a16:colId xmlns:a16="http://schemas.microsoft.com/office/drawing/2014/main" val="20004"/>
                    </a:ext>
                  </a:extLst>
                </a:gridCol>
              </a:tblGrid>
              <a:tr h="338328">
                <a:tc>
                  <a:txBody>
                    <a:bodyPr/>
                    <a:lstStyle/>
                    <a:p>
                      <a:pPr>
                        <a:defRPr sz="1000" b="1">
                          <a:solidFill>
                            <a:srgbClr val="FFFFFF"/>
                          </a:solidFill>
                          <a:latin typeface="Aptos"/>
                        </a:defRPr>
                      </a:pPr>
                      <a:r>
                        <a:t>Policy</a:t>
                      </a:r>
                    </a:p>
                  </a:txBody>
                  <a:tcPr>
                    <a:solidFill>
                      <a:srgbClr val="12223E"/>
                    </a:solidFill>
                  </a:tcPr>
                </a:tc>
                <a:tc>
                  <a:txBody>
                    <a:bodyPr/>
                    <a:lstStyle/>
                    <a:p>
                      <a:pPr>
                        <a:defRPr sz="1000" b="1">
                          <a:solidFill>
                            <a:srgbClr val="FFFFFF"/>
                          </a:solidFill>
                          <a:latin typeface="Aptos"/>
                        </a:defRPr>
                      </a:pPr>
                      <a:r>
                        <a:t>Burst P99 (ms)</a:t>
                      </a:r>
                    </a:p>
                  </a:txBody>
                  <a:tcPr>
                    <a:solidFill>
                      <a:srgbClr val="12223E"/>
                    </a:solidFill>
                  </a:tcPr>
                </a:tc>
                <a:tc>
                  <a:txBody>
                    <a:bodyPr/>
                    <a:lstStyle/>
                    <a:p>
                      <a:pPr>
                        <a:defRPr sz="1000" b="1">
                          <a:solidFill>
                            <a:srgbClr val="FFFFFF"/>
                          </a:solidFill>
                          <a:latin typeface="Aptos"/>
                        </a:defRPr>
                      </a:pPr>
                      <a:r>
                        <a:t>Steady P99 (ms)</a:t>
                      </a:r>
                    </a:p>
                  </a:txBody>
                  <a:tcPr>
                    <a:solidFill>
                      <a:srgbClr val="12223E"/>
                    </a:solidFill>
                  </a:tcPr>
                </a:tc>
                <a:tc>
                  <a:txBody>
                    <a:bodyPr/>
                    <a:lstStyle/>
                    <a:p>
                      <a:pPr>
                        <a:defRPr sz="1000" b="1">
                          <a:solidFill>
                            <a:srgbClr val="FFFFFF"/>
                          </a:solidFill>
                          <a:latin typeface="Aptos"/>
                        </a:defRPr>
                      </a:pPr>
                      <a:r>
                        <a:t>Success %</a:t>
                      </a:r>
                    </a:p>
                  </a:txBody>
                  <a:tcPr>
                    <a:solidFill>
                      <a:srgbClr val="12223E"/>
                    </a:solidFill>
                  </a:tcPr>
                </a:tc>
                <a:tc>
                  <a:txBody>
                    <a:bodyPr/>
                    <a:lstStyle/>
                    <a:p>
                      <a:pPr>
                        <a:defRPr sz="1000" b="1">
                          <a:solidFill>
                            <a:srgbClr val="FFFFFF"/>
                          </a:solidFill>
                          <a:latin typeface="Aptos"/>
                        </a:defRPr>
                      </a:pPr>
                      <a:r>
                        <a:t>Verdict</a:t>
                      </a:r>
                    </a:p>
                  </a:txBody>
                  <a:tcPr>
                    <a:solidFill>
                      <a:srgbClr val="12223E"/>
                    </a:solidFill>
                  </a:tcPr>
                </a:tc>
                <a:extLst>
                  <a:ext uri="{0D108BD9-81ED-4DB2-BD59-A6C34878D82A}">
                    <a16:rowId xmlns:a16="http://schemas.microsoft.com/office/drawing/2014/main" val="10000"/>
                  </a:ext>
                </a:extLst>
              </a:tr>
              <a:tr h="338328">
                <a:tc>
                  <a:txBody>
                    <a:bodyPr/>
                    <a:lstStyle/>
                    <a:p>
                      <a:pPr>
                        <a:defRPr sz="1000">
                          <a:solidFill>
                            <a:srgbClr val="1E293B"/>
                          </a:solidFill>
                          <a:latin typeface="Aptos"/>
                        </a:defRPr>
                      </a:pPr>
                      <a:r>
                        <a:t>Round-robin</a:t>
                      </a:r>
                    </a:p>
                  </a:txBody>
                  <a:tcPr>
                    <a:solidFill>
                      <a:srgbClr val="FFFFFF"/>
                    </a:solidFill>
                  </a:tcPr>
                </a:tc>
                <a:tc>
                  <a:txBody>
                    <a:bodyPr/>
                    <a:lstStyle/>
                    <a:p>
                      <a:pPr>
                        <a:defRPr sz="1000">
                          <a:solidFill>
                            <a:srgbClr val="1E293B"/>
                          </a:solidFill>
                          <a:latin typeface="Aptos"/>
                        </a:defRPr>
                      </a:pPr>
                      <a:r>
                        <a:t>98.9 ± 2.5</a:t>
                      </a:r>
                    </a:p>
                  </a:txBody>
                  <a:tcPr>
                    <a:solidFill>
                      <a:srgbClr val="FFFFFF"/>
                    </a:solidFill>
                  </a:tcPr>
                </a:tc>
                <a:tc>
                  <a:txBody>
                    <a:bodyPr/>
                    <a:lstStyle/>
                    <a:p>
                      <a:pPr>
                        <a:defRPr sz="1000">
                          <a:solidFill>
                            <a:srgbClr val="1E293B"/>
                          </a:solidFill>
                          <a:latin typeface="Aptos"/>
                        </a:defRPr>
                      </a:pPr>
                      <a:r>
                        <a:t>~96 (median)</a:t>
                      </a:r>
                    </a:p>
                  </a:txBody>
                  <a:tcPr>
                    <a:solidFill>
                      <a:srgbClr val="FFFFFF"/>
                    </a:solidFill>
                  </a:tcPr>
                </a:tc>
                <a:tc>
                  <a:txBody>
                    <a:bodyPr/>
                    <a:lstStyle/>
                    <a:p>
                      <a:pPr>
                        <a:defRPr sz="1000">
                          <a:solidFill>
                            <a:srgbClr val="1E293B"/>
                          </a:solidFill>
                          <a:latin typeface="Aptos"/>
                        </a:defRPr>
                      </a:pPr>
                      <a:r>
                        <a:t>100</a:t>
                      </a:r>
                    </a:p>
                  </a:txBody>
                  <a:tcPr>
                    <a:solidFill>
                      <a:srgbClr val="FFFFFF"/>
                    </a:solidFill>
                  </a:tcPr>
                </a:tc>
                <a:tc>
                  <a:txBody>
                    <a:bodyPr/>
                    <a:lstStyle/>
                    <a:p>
                      <a:pPr>
                        <a:defRPr sz="1000">
                          <a:solidFill>
                            <a:srgbClr val="1E293B"/>
                          </a:solidFill>
                          <a:latin typeface="Aptos"/>
                        </a:defRPr>
                      </a:pPr>
                      <a:r>
                        <a:t>baseline</a:t>
                      </a:r>
                    </a:p>
                  </a:txBody>
                  <a:tcPr>
                    <a:solidFill>
                      <a:srgbClr val="FFFFFF"/>
                    </a:solidFill>
                  </a:tcPr>
                </a:tc>
                <a:extLst>
                  <a:ext uri="{0D108BD9-81ED-4DB2-BD59-A6C34878D82A}">
                    <a16:rowId xmlns:a16="http://schemas.microsoft.com/office/drawing/2014/main" val="10001"/>
                  </a:ext>
                </a:extLst>
              </a:tr>
              <a:tr h="338328">
                <a:tc>
                  <a:txBody>
                    <a:bodyPr/>
                    <a:lstStyle/>
                    <a:p>
                      <a:pPr>
                        <a:defRPr sz="1000">
                          <a:solidFill>
                            <a:srgbClr val="1E293B"/>
                          </a:solidFill>
                          <a:latin typeface="Aptos"/>
                        </a:defRPr>
                      </a:pPr>
                      <a:r>
                        <a:t>EWMA P2C</a:t>
                      </a:r>
                    </a:p>
                  </a:txBody>
                  <a:tcPr>
                    <a:solidFill>
                      <a:srgbClr val="EFF6FF"/>
                    </a:solidFill>
                  </a:tcPr>
                </a:tc>
                <a:tc>
                  <a:txBody>
                    <a:bodyPr/>
                    <a:lstStyle/>
                    <a:p>
                      <a:pPr>
                        <a:defRPr sz="1000">
                          <a:solidFill>
                            <a:srgbClr val="1E293B"/>
                          </a:solidFill>
                          <a:latin typeface="Aptos"/>
                        </a:defRPr>
                      </a:pPr>
                      <a:r>
                        <a:t>111.2 ± 36.6</a:t>
                      </a:r>
                    </a:p>
                  </a:txBody>
                  <a:tcPr>
                    <a:solidFill>
                      <a:srgbClr val="EFF6FF"/>
                    </a:solidFill>
                  </a:tcPr>
                </a:tc>
                <a:tc>
                  <a:txBody>
                    <a:bodyPr/>
                    <a:lstStyle/>
                    <a:p>
                      <a:pPr>
                        <a:defRPr sz="1000">
                          <a:solidFill>
                            <a:srgbClr val="1E293B"/>
                          </a:solidFill>
                          <a:latin typeface="Aptos"/>
                        </a:defRPr>
                      </a:pPr>
                      <a:r>
                        <a:t>111.3 ± 22.3</a:t>
                      </a:r>
                    </a:p>
                  </a:txBody>
                  <a:tcPr>
                    <a:solidFill>
                      <a:srgbClr val="EFF6FF"/>
                    </a:solidFill>
                  </a:tcPr>
                </a:tc>
                <a:tc>
                  <a:txBody>
                    <a:bodyPr/>
                    <a:lstStyle/>
                    <a:p>
                      <a:pPr>
                        <a:defRPr sz="1000">
                          <a:solidFill>
                            <a:srgbClr val="1E293B"/>
                          </a:solidFill>
                          <a:latin typeface="Aptos"/>
                        </a:defRPr>
                      </a:pPr>
                      <a:r>
                        <a:t>100</a:t>
                      </a:r>
                    </a:p>
                  </a:txBody>
                  <a:tcPr>
                    <a:solidFill>
                      <a:srgbClr val="EFF6FF"/>
                    </a:solidFill>
                  </a:tcPr>
                </a:tc>
                <a:tc>
                  <a:txBody>
                    <a:bodyPr/>
                    <a:lstStyle/>
                    <a:p>
                      <a:pPr>
                        <a:defRPr sz="1000">
                          <a:solidFill>
                            <a:srgbClr val="1E293B"/>
                          </a:solidFill>
                          <a:latin typeface="Aptos"/>
                        </a:defRPr>
                      </a:pPr>
                      <a:r>
                        <a:t>worse, unstable</a:t>
                      </a:r>
                    </a:p>
                  </a:txBody>
                  <a:tcPr>
                    <a:solidFill>
                      <a:srgbClr val="EFF6FF"/>
                    </a:solidFill>
                  </a:tcPr>
                </a:tc>
                <a:extLst>
                  <a:ext uri="{0D108BD9-81ED-4DB2-BD59-A6C34878D82A}">
                    <a16:rowId xmlns:a16="http://schemas.microsoft.com/office/drawing/2014/main" val="10002"/>
                  </a:ext>
                </a:extLst>
              </a:tr>
              <a:tr h="338328">
                <a:tc>
                  <a:txBody>
                    <a:bodyPr/>
                    <a:lstStyle/>
                    <a:p>
                      <a:pPr>
                        <a:defRPr sz="1000">
                          <a:solidFill>
                            <a:srgbClr val="1E293B"/>
                          </a:solidFill>
                          <a:latin typeface="Aptos"/>
                        </a:defRPr>
                      </a:pPr>
                      <a:r>
                        <a:t>Response-time</a:t>
                      </a:r>
                    </a:p>
                  </a:txBody>
                  <a:tcPr>
                    <a:solidFill>
                      <a:srgbClr val="FFFFFF"/>
                    </a:solidFill>
                  </a:tcPr>
                </a:tc>
                <a:tc>
                  <a:txBody>
                    <a:bodyPr/>
                    <a:lstStyle/>
                    <a:p>
                      <a:pPr>
                        <a:defRPr sz="1000">
                          <a:solidFill>
                            <a:srgbClr val="1E293B"/>
                          </a:solidFill>
                          <a:latin typeface="Aptos"/>
                        </a:defRPr>
                      </a:pPr>
                      <a:r>
                        <a:t>240.6 ± 0.5</a:t>
                      </a:r>
                    </a:p>
                  </a:txBody>
                  <a:tcPr>
                    <a:solidFill>
                      <a:srgbClr val="FFFFFF"/>
                    </a:solidFill>
                  </a:tcPr>
                </a:tc>
                <a:tc>
                  <a:txBody>
                    <a:bodyPr/>
                    <a:lstStyle/>
                    <a:p>
                      <a:pPr>
                        <a:defRPr sz="1000">
                          <a:solidFill>
                            <a:srgbClr val="1E293B"/>
                          </a:solidFill>
                          <a:latin typeface="Aptos"/>
                        </a:defRPr>
                      </a:pPr>
                      <a:r>
                        <a:t>188.7 ± 33.9</a:t>
                      </a:r>
                    </a:p>
                  </a:txBody>
                  <a:tcPr>
                    <a:solidFill>
                      <a:srgbClr val="FFFFFF"/>
                    </a:solidFill>
                  </a:tcPr>
                </a:tc>
                <a:tc>
                  <a:txBody>
                    <a:bodyPr/>
                    <a:lstStyle/>
                    <a:p>
                      <a:pPr>
                        <a:defRPr sz="1000">
                          <a:solidFill>
                            <a:srgbClr val="1E293B"/>
                          </a:solidFill>
                          <a:latin typeface="Aptos"/>
                        </a:defRPr>
                      </a:pPr>
                      <a:r>
                        <a:t>99</a:t>
                      </a:r>
                    </a:p>
                  </a:txBody>
                  <a:tcPr>
                    <a:solidFill>
                      <a:srgbClr val="FFFFFF"/>
                    </a:solidFill>
                  </a:tcPr>
                </a:tc>
                <a:tc>
                  <a:txBody>
                    <a:bodyPr/>
                    <a:lstStyle/>
                    <a:p>
                      <a:pPr>
                        <a:defRPr sz="1000">
                          <a:solidFill>
                            <a:srgbClr val="1E293B"/>
                          </a:solidFill>
                          <a:latin typeface="Aptos"/>
                        </a:defRPr>
                      </a:pPr>
                      <a:r>
                        <a:t>stable but worse</a:t>
                      </a:r>
                    </a:p>
                  </a:txBody>
                  <a:tcPr>
                    <a:solidFill>
                      <a:srgbClr val="FFFFFF"/>
                    </a:solidFill>
                  </a:tcPr>
                </a:tc>
                <a:extLst>
                  <a:ext uri="{0D108BD9-81ED-4DB2-BD59-A6C34878D82A}">
                    <a16:rowId xmlns:a16="http://schemas.microsoft.com/office/drawing/2014/main" val="10003"/>
                  </a:ext>
                </a:extLst>
              </a:tr>
              <a:tr h="338328">
                <a:tc>
                  <a:txBody>
                    <a:bodyPr/>
                    <a:lstStyle/>
                    <a:p>
                      <a:pPr>
                        <a:defRPr sz="1000">
                          <a:solidFill>
                            <a:srgbClr val="1E293B"/>
                          </a:solidFill>
                          <a:latin typeface="Aptos"/>
                        </a:defRPr>
                      </a:pPr>
                      <a:r>
                        <a:t>Capacity-aware</a:t>
                      </a:r>
                    </a:p>
                  </a:txBody>
                  <a:tcPr>
                    <a:solidFill>
                      <a:srgbClr val="EFF6FF"/>
                    </a:solidFill>
                  </a:tcPr>
                </a:tc>
                <a:tc>
                  <a:txBody>
                    <a:bodyPr/>
                    <a:lstStyle/>
                    <a:p>
                      <a:pPr>
                        <a:defRPr sz="1000">
                          <a:solidFill>
                            <a:srgbClr val="1E293B"/>
                          </a:solidFill>
                          <a:latin typeface="Aptos"/>
                        </a:defRPr>
                      </a:pPr>
                      <a:r>
                        <a:t>66.0 ± 11.4</a:t>
                      </a:r>
                    </a:p>
                  </a:txBody>
                  <a:tcPr>
                    <a:solidFill>
                      <a:srgbClr val="EFF6FF"/>
                    </a:solidFill>
                  </a:tcPr>
                </a:tc>
                <a:tc>
                  <a:txBody>
                    <a:bodyPr/>
                    <a:lstStyle/>
                    <a:p>
                      <a:pPr>
                        <a:defRPr sz="1000">
                          <a:solidFill>
                            <a:srgbClr val="1E293B"/>
                          </a:solidFill>
                          <a:latin typeface="Aptos"/>
                        </a:defRPr>
                      </a:pPr>
                      <a:r>
                        <a:t>48.8 ± 0.6</a:t>
                      </a:r>
                    </a:p>
                  </a:txBody>
                  <a:tcPr>
                    <a:solidFill>
                      <a:srgbClr val="EFF6FF"/>
                    </a:solidFill>
                  </a:tcPr>
                </a:tc>
                <a:tc>
                  <a:txBody>
                    <a:bodyPr/>
                    <a:lstStyle/>
                    <a:p>
                      <a:pPr>
                        <a:defRPr sz="1000">
                          <a:solidFill>
                            <a:srgbClr val="1E293B"/>
                          </a:solidFill>
                          <a:latin typeface="Aptos"/>
                        </a:defRPr>
                      </a:pPr>
                      <a:r>
                        <a:t>100</a:t>
                      </a:r>
                    </a:p>
                  </a:txBody>
                  <a:tcPr>
                    <a:solidFill>
                      <a:srgbClr val="EFF6FF"/>
                    </a:solidFill>
                  </a:tcPr>
                </a:tc>
                <a:tc>
                  <a:txBody>
                    <a:bodyPr/>
                    <a:lstStyle/>
                    <a:p>
                      <a:pPr>
                        <a:defRPr sz="1000">
                          <a:solidFill>
                            <a:srgbClr val="1E293B"/>
                          </a:solidFill>
                          <a:latin typeface="Aptos"/>
                        </a:defRPr>
                      </a:pPr>
                      <a:r>
                        <a:t>wins</a:t>
                      </a:r>
                    </a:p>
                  </a:txBody>
                  <a:tcPr>
                    <a:solidFill>
                      <a:srgbClr val="EFF6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58368"/>
            <a:ext cx="11155680" cy="502920"/>
          </a:xfrm>
          <a:prstGeom prst="rect">
            <a:avLst/>
          </a:prstGeom>
          <a:noFill/>
        </p:spPr>
        <p:txBody>
          <a:bodyPr wrap="square" lIns="54864" tIns="27432" rIns="54864">
            <a:spAutoFit/>
          </a:bodyPr>
          <a:lstStyle/>
          <a:p>
            <a:pPr algn="l"/>
            <a:r>
              <a:rPr sz="2600" b="1">
                <a:solidFill>
                  <a:srgbClr val="12223E"/>
                </a:solidFill>
                <a:latin typeface="Aptos"/>
              </a:rPr>
              <a:t>Results and performance analysis</a:t>
            </a:r>
          </a:p>
        </p:txBody>
      </p:sp>
      <p:sp>
        <p:nvSpPr>
          <p:cNvPr id="5" name="Rectangle 4"/>
          <p:cNvSpPr/>
          <p:nvPr/>
        </p:nvSpPr>
        <p:spPr>
          <a:xfrm>
            <a:off x="502920" y="1261872"/>
            <a:ext cx="11155680"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064240" y="6510528"/>
            <a:ext cx="548640" cy="182880"/>
          </a:xfrm>
          <a:prstGeom prst="rect">
            <a:avLst/>
          </a:prstGeom>
          <a:noFill/>
        </p:spPr>
        <p:txBody>
          <a:bodyPr wrap="square" lIns="54864" tIns="27432" rIns="54864">
            <a:spAutoFit/>
          </a:bodyPr>
          <a:lstStyle/>
          <a:p>
            <a:pPr algn="r"/>
            <a:r>
              <a:rPr sz="900" b="1">
                <a:solidFill>
                  <a:srgbClr val="64748B"/>
                </a:solidFill>
                <a:latin typeface="Aptos"/>
              </a:rPr>
              <a:t>08</a:t>
            </a:r>
          </a:p>
        </p:txBody>
      </p:sp>
      <p:sp>
        <p:nvSpPr>
          <p:cNvPr id="8" name="Rounded Rectangle 7"/>
          <p:cNvSpPr/>
          <p:nvPr/>
        </p:nvSpPr>
        <p:spPr>
          <a:xfrm>
            <a:off x="594360" y="1554480"/>
            <a:ext cx="5486400" cy="4023360"/>
          </a:xfrm>
          <a:prstGeom prst="roundRect">
            <a:avLst>
              <a:gd name="adj" fmla="val 12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0664" y="1664207"/>
            <a:ext cx="5193792" cy="256032"/>
          </a:xfrm>
          <a:prstGeom prst="rect">
            <a:avLst/>
          </a:prstGeom>
          <a:noFill/>
        </p:spPr>
        <p:txBody>
          <a:bodyPr wrap="square" lIns="54864" tIns="27432" rIns="54864">
            <a:spAutoFit/>
          </a:bodyPr>
          <a:lstStyle/>
          <a:p>
            <a:pPr algn="l"/>
            <a:r>
              <a:rPr sz="1300" b="1">
                <a:solidFill>
                  <a:srgbClr val="2563EB"/>
                </a:solidFill>
                <a:latin typeface="Aptos"/>
              </a:rPr>
              <a:t>RESULTS CHART / TABLE</a:t>
            </a:r>
          </a:p>
        </p:txBody>
      </p:sp>
      <p:sp>
        <p:nvSpPr>
          <p:cNvPr id="11" name="Rounded Rectangle 10"/>
          <p:cNvSpPr/>
          <p:nvPr/>
        </p:nvSpPr>
        <p:spPr>
          <a:xfrm>
            <a:off x="6309360" y="1554480"/>
            <a:ext cx="5303520" cy="1325880"/>
          </a:xfrm>
          <a:prstGeom prst="roundRect">
            <a:avLst>
              <a:gd name="adj" fmla="val 12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55664" y="1664207"/>
            <a:ext cx="5010912" cy="256032"/>
          </a:xfrm>
          <a:prstGeom prst="rect">
            <a:avLst/>
          </a:prstGeom>
          <a:noFill/>
        </p:spPr>
        <p:txBody>
          <a:bodyPr wrap="square" lIns="54864" tIns="27432" rIns="54864">
            <a:spAutoFit/>
          </a:bodyPr>
          <a:lstStyle/>
          <a:p>
            <a:pPr algn="l"/>
            <a:r>
              <a:rPr sz="1300" b="1">
                <a:solidFill>
                  <a:srgbClr val="2563EB"/>
                </a:solidFill>
                <a:latin typeface="Aptos"/>
              </a:rPr>
              <a:t>KEY FINDING 1</a:t>
            </a:r>
          </a:p>
        </p:txBody>
      </p:sp>
      <p:sp>
        <p:nvSpPr>
          <p:cNvPr id="13" name="TextBox 12"/>
          <p:cNvSpPr txBox="1"/>
          <p:nvPr/>
        </p:nvSpPr>
        <p:spPr>
          <a:xfrm>
            <a:off x="6455664" y="1993391"/>
            <a:ext cx="5010912" cy="822959"/>
          </a:xfrm>
          <a:prstGeom prst="rect">
            <a:avLst/>
          </a:prstGeom>
          <a:noFill/>
        </p:spPr>
        <p:txBody>
          <a:bodyPr wrap="square" lIns="54864" tIns="27432" rIns="54864">
            <a:spAutoFit/>
          </a:bodyPr>
          <a:lstStyle/>
          <a:p>
            <a:pPr algn="l"/>
            <a:r>
              <a:rPr sz="1100" b="0">
                <a:solidFill>
                  <a:srgbClr val="64748B"/>
                </a:solidFill>
                <a:latin typeface="Aptos"/>
              </a:rPr>
              <a:t>The reactive byte rate signals mislead the controller. Least load and EWMA sit at or above the round robin P99 line, and the connection count version collapsed, with success falling to the mid eighties and P99 into seconds.</a:t>
            </a:r>
          </a:p>
        </p:txBody>
      </p:sp>
      <p:sp>
        <p:nvSpPr>
          <p:cNvPr id="14" name="Rounded Rectangle 13"/>
          <p:cNvSpPr/>
          <p:nvPr/>
        </p:nvSpPr>
        <p:spPr>
          <a:xfrm>
            <a:off x="6309360" y="3063240"/>
            <a:ext cx="5303520" cy="1325880"/>
          </a:xfrm>
          <a:prstGeom prst="roundRect">
            <a:avLst>
              <a:gd name="adj" fmla="val 12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55664" y="3172968"/>
            <a:ext cx="5010912" cy="256032"/>
          </a:xfrm>
          <a:prstGeom prst="rect">
            <a:avLst/>
          </a:prstGeom>
          <a:noFill/>
        </p:spPr>
        <p:txBody>
          <a:bodyPr wrap="square" lIns="54864" tIns="27432" rIns="54864">
            <a:spAutoFit/>
          </a:bodyPr>
          <a:lstStyle/>
          <a:p>
            <a:pPr algn="l"/>
            <a:r>
              <a:rPr sz="1300" b="1">
                <a:solidFill>
                  <a:srgbClr val="2563EB"/>
                </a:solidFill>
                <a:latin typeface="Aptos"/>
              </a:rPr>
              <a:t>KEY FINDING 2</a:t>
            </a:r>
          </a:p>
        </p:txBody>
      </p:sp>
      <p:sp>
        <p:nvSpPr>
          <p:cNvPr id="16" name="TextBox 15"/>
          <p:cNvSpPr txBox="1"/>
          <p:nvPr/>
        </p:nvSpPr>
        <p:spPr>
          <a:xfrm>
            <a:off x="6455664" y="3502152"/>
            <a:ext cx="5010912" cy="822959"/>
          </a:xfrm>
          <a:prstGeom prst="rect">
            <a:avLst/>
          </a:prstGeom>
          <a:noFill/>
        </p:spPr>
        <p:txBody>
          <a:bodyPr wrap="square" lIns="54864" tIns="27432" rIns="54864">
            <a:spAutoFit/>
          </a:bodyPr>
          <a:lstStyle/>
          <a:p>
            <a:pPr algn="l"/>
            <a:r>
              <a:rPr sz="1400" b="0">
                <a:solidFill>
                  <a:srgbClr val="64748B"/>
                </a:solidFill>
                <a:latin typeface="Aptos"/>
              </a:rPr>
              <a:t>The capacity aware policy wins clearly: a burst P99 of 66ms against round robin's 99ms, and a steady P99 of 48.8ms against about 96ms, at 100% success on every run.</a:t>
            </a:r>
          </a:p>
        </p:txBody>
      </p:sp>
      <p:sp>
        <p:nvSpPr>
          <p:cNvPr id="17" name="Rounded Rectangle 16"/>
          <p:cNvSpPr/>
          <p:nvPr/>
        </p:nvSpPr>
        <p:spPr>
          <a:xfrm>
            <a:off x="6309360" y="4572000"/>
            <a:ext cx="5303520" cy="1143000"/>
          </a:xfrm>
          <a:prstGeom prst="roundRect">
            <a:avLst>
              <a:gd name="adj" fmla="val 12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55664" y="4681728"/>
            <a:ext cx="5010912" cy="256032"/>
          </a:xfrm>
          <a:prstGeom prst="rect">
            <a:avLst/>
          </a:prstGeom>
          <a:noFill/>
        </p:spPr>
        <p:txBody>
          <a:bodyPr wrap="square" lIns="54864" tIns="27432" rIns="54864">
            <a:spAutoFit/>
          </a:bodyPr>
          <a:lstStyle/>
          <a:p>
            <a:pPr algn="l"/>
            <a:r>
              <a:rPr sz="1300" b="1">
                <a:solidFill>
                  <a:srgbClr val="2563EB"/>
                </a:solidFill>
                <a:latin typeface="Aptos"/>
              </a:rPr>
              <a:t>LIMITATIONS</a:t>
            </a:r>
          </a:p>
        </p:txBody>
      </p:sp>
      <p:sp>
        <p:nvSpPr>
          <p:cNvPr id="19" name="TextBox 18"/>
          <p:cNvSpPr txBox="1"/>
          <p:nvPr/>
        </p:nvSpPr>
        <p:spPr>
          <a:xfrm>
            <a:off x="6455664" y="5010912"/>
            <a:ext cx="5010912" cy="640080"/>
          </a:xfrm>
          <a:prstGeom prst="rect">
            <a:avLst/>
          </a:prstGeom>
          <a:noFill/>
        </p:spPr>
        <p:txBody>
          <a:bodyPr wrap="square" lIns="54864" tIns="27432" rIns="54864">
            <a:spAutoFit/>
          </a:bodyPr>
          <a:lstStyle/>
          <a:p>
            <a:pPr algn="l"/>
            <a:r>
              <a:rPr sz="1400" b="0">
                <a:solidFill>
                  <a:srgbClr val="64748B"/>
                </a:solidFill>
                <a:latin typeface="Aptos"/>
              </a:rPr>
              <a:t>The win relies on the load being light enough to spare the slow server; under heavier load the gap narrows. The service times are also assumed to be known.</a:t>
            </a:r>
          </a:p>
        </p:txBody>
      </p:sp>
      <p:pic>
        <p:nvPicPr>
          <p:cNvPr id="20" name="Picture 19" descr="results_p99.png"/>
          <p:cNvPicPr>
            <a:picLocks noChangeAspect="1"/>
          </p:cNvPicPr>
          <p:nvPr/>
        </p:nvPicPr>
        <p:blipFill>
          <a:blip r:embed="rId2"/>
          <a:stretch>
            <a:fillRect/>
          </a:stretch>
        </p:blipFill>
        <p:spPr>
          <a:xfrm>
            <a:off x="740664" y="2423815"/>
            <a:ext cx="5193792" cy="265959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58368"/>
            <a:ext cx="11155680" cy="502920"/>
          </a:xfrm>
          <a:prstGeom prst="rect">
            <a:avLst/>
          </a:prstGeom>
          <a:noFill/>
        </p:spPr>
        <p:txBody>
          <a:bodyPr wrap="square" lIns="54864" tIns="27432" rIns="54864">
            <a:spAutoFit/>
          </a:bodyPr>
          <a:lstStyle/>
          <a:p>
            <a:pPr algn="l"/>
            <a:r>
              <a:rPr sz="2600" b="1">
                <a:solidFill>
                  <a:srgbClr val="12223E"/>
                </a:solidFill>
                <a:latin typeface="Aptos"/>
              </a:rPr>
              <a:t>Packet flow, protocol analysis or live demonstration</a:t>
            </a:r>
          </a:p>
        </p:txBody>
      </p:sp>
      <p:sp>
        <p:nvSpPr>
          <p:cNvPr id="5" name="Rectangle 4"/>
          <p:cNvSpPr/>
          <p:nvPr/>
        </p:nvSpPr>
        <p:spPr>
          <a:xfrm>
            <a:off x="502920" y="1261872"/>
            <a:ext cx="11155680"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064240" y="6510528"/>
            <a:ext cx="548640" cy="182880"/>
          </a:xfrm>
          <a:prstGeom prst="rect">
            <a:avLst/>
          </a:prstGeom>
          <a:noFill/>
        </p:spPr>
        <p:txBody>
          <a:bodyPr wrap="square" lIns="54864" tIns="27432" rIns="54864">
            <a:spAutoFit/>
          </a:bodyPr>
          <a:lstStyle/>
          <a:p>
            <a:pPr algn="r"/>
            <a:r>
              <a:rPr sz="900" b="1">
                <a:solidFill>
                  <a:srgbClr val="64748B"/>
                </a:solidFill>
                <a:latin typeface="Aptos"/>
              </a:rPr>
              <a:t>09</a:t>
            </a:r>
          </a:p>
        </p:txBody>
      </p:sp>
      <p:sp>
        <p:nvSpPr>
          <p:cNvPr id="8" name="Rounded Rectangle 7"/>
          <p:cNvSpPr/>
          <p:nvPr/>
        </p:nvSpPr>
        <p:spPr>
          <a:xfrm>
            <a:off x="594360" y="1554480"/>
            <a:ext cx="6766560" cy="4114800"/>
          </a:xfrm>
          <a:prstGeom prst="roundRect">
            <a:avLst>
              <a:gd name="adj" fmla="val 12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0664" y="1664207"/>
            <a:ext cx="6473952" cy="256032"/>
          </a:xfrm>
          <a:prstGeom prst="rect">
            <a:avLst/>
          </a:prstGeom>
          <a:noFill/>
        </p:spPr>
        <p:txBody>
          <a:bodyPr wrap="square" lIns="54864" tIns="27432" rIns="54864">
            <a:spAutoFit/>
          </a:bodyPr>
          <a:lstStyle/>
          <a:p>
            <a:pPr algn="l"/>
            <a:r>
              <a:rPr sz="1300" b="1">
                <a:solidFill>
                  <a:srgbClr val="2563EB"/>
                </a:solidFill>
                <a:latin typeface="Aptos"/>
              </a:rPr>
              <a:t>SCREENSHOT / PACKET FLOW / DEMO</a:t>
            </a:r>
          </a:p>
        </p:txBody>
      </p:sp>
      <p:sp>
        <p:nvSpPr>
          <p:cNvPr id="10" name="TextBox 9"/>
          <p:cNvSpPr txBox="1"/>
          <p:nvPr/>
        </p:nvSpPr>
        <p:spPr>
          <a:xfrm>
            <a:off x="740664" y="1993391"/>
            <a:ext cx="6473952" cy="3611880"/>
          </a:xfrm>
          <a:prstGeom prst="rect">
            <a:avLst/>
          </a:prstGeom>
          <a:noFill/>
        </p:spPr>
        <p:txBody>
          <a:bodyPr wrap="square" lIns="54864" tIns="27432" rIns="54864">
            <a:spAutoFit/>
          </a:bodyPr>
          <a:lstStyle/>
          <a:p>
            <a:pPr algn="l"/>
            <a:r>
              <a:rPr sz="1400" b="0">
                <a:solidFill>
                  <a:srgbClr val="64748B"/>
                </a:solidFill>
                <a:latin typeface="Aptos"/>
              </a:rPr>
              <a:t>Client ARPs for VIP -&gt; controller replies with the virtual MAC.</a:t>
            </a:r>
          </a:p>
          <a:p>
            <a:pPr algn="l"/>
            <a:r>
              <a:rPr sz="1400" b="0">
                <a:solidFill>
                  <a:srgbClr val="64748B"/>
                </a:solidFill>
                <a:latin typeface="Aptos"/>
              </a:rPr>
              <a:t>First TCP SYN to VIP -&gt; packet-in; controller picks a backend and installs flows.</a:t>
            </a:r>
          </a:p>
          <a:p>
            <a:pPr algn="l"/>
            <a:r>
              <a:rPr sz="1400" b="0">
                <a:solidFill>
                  <a:srgbClr val="64748B"/>
                </a:solidFill>
                <a:latin typeface="Aptos"/>
              </a:rPr>
              <a:t>The first packet is sent out already rewritten (fixing a 1 s TCP retransmit bug we found).</a:t>
            </a:r>
          </a:p>
          <a:p>
            <a:pPr algn="l"/>
            <a:r>
              <a:rPr sz="1400" b="0">
                <a:solidFill>
                  <a:srgbClr val="64748B"/>
                </a:solidFill>
                <a:latin typeface="Aptos"/>
              </a:rPr>
              <a:t>Subsequent packets match the installed flow; reverse flow restores the VIP to the client.</a:t>
            </a:r>
          </a:p>
        </p:txBody>
      </p:sp>
      <p:sp>
        <p:nvSpPr>
          <p:cNvPr id="11" name="Rounded Rectangle 10"/>
          <p:cNvSpPr/>
          <p:nvPr/>
        </p:nvSpPr>
        <p:spPr>
          <a:xfrm>
            <a:off x="7589520" y="1554480"/>
            <a:ext cx="4023360" cy="1645920"/>
          </a:xfrm>
          <a:prstGeom prst="roundRect">
            <a:avLst>
              <a:gd name="adj" fmla="val 12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35824" y="1664207"/>
            <a:ext cx="3730752" cy="256032"/>
          </a:xfrm>
          <a:prstGeom prst="rect">
            <a:avLst/>
          </a:prstGeom>
          <a:noFill/>
        </p:spPr>
        <p:txBody>
          <a:bodyPr wrap="square" lIns="54864" tIns="27432" rIns="54864">
            <a:spAutoFit/>
          </a:bodyPr>
          <a:lstStyle/>
          <a:p>
            <a:pPr algn="l"/>
            <a:r>
              <a:rPr sz="1300" b="1">
                <a:solidFill>
                  <a:srgbClr val="2563EB"/>
                </a:solidFill>
                <a:latin typeface="Aptos"/>
              </a:rPr>
              <a:t>WHAT THE EVIDENCE SHOWS</a:t>
            </a:r>
          </a:p>
        </p:txBody>
      </p:sp>
      <p:sp>
        <p:nvSpPr>
          <p:cNvPr id="13" name="TextBox 12"/>
          <p:cNvSpPr txBox="1"/>
          <p:nvPr/>
        </p:nvSpPr>
        <p:spPr>
          <a:xfrm>
            <a:off x="7735824" y="1993391"/>
            <a:ext cx="3730752" cy="1143000"/>
          </a:xfrm>
          <a:prstGeom prst="rect">
            <a:avLst/>
          </a:prstGeom>
          <a:noFill/>
        </p:spPr>
        <p:txBody>
          <a:bodyPr wrap="square" lIns="54864" tIns="27432" rIns="54864">
            <a:spAutoFit/>
          </a:bodyPr>
          <a:lstStyle/>
          <a:p>
            <a:pPr algn="l"/>
            <a:r>
              <a:rPr sz="1400" b="0">
                <a:solidFill>
                  <a:srgbClr val="64748B"/>
                </a:solidFill>
                <a:latin typeface="Aptos"/>
              </a:rPr>
              <a:t>The flow-install step is where the routing policy actually acts. Because a backend is chosen only once per flow, pinning each client to one server fixes an upper bound on how many requests can hit a single threaded server at the same time.</a:t>
            </a:r>
          </a:p>
        </p:txBody>
      </p:sp>
      <p:sp>
        <p:nvSpPr>
          <p:cNvPr id="14" name="Rounded Rectangle 13"/>
          <p:cNvSpPr/>
          <p:nvPr/>
        </p:nvSpPr>
        <p:spPr>
          <a:xfrm>
            <a:off x="7589520" y="3429000"/>
            <a:ext cx="4023360" cy="2240280"/>
          </a:xfrm>
          <a:prstGeom prst="roundRect">
            <a:avLst>
              <a:gd name="adj" fmla="val 12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35824" y="3538728"/>
            <a:ext cx="3730752" cy="256032"/>
          </a:xfrm>
          <a:prstGeom prst="rect">
            <a:avLst/>
          </a:prstGeom>
          <a:noFill/>
        </p:spPr>
        <p:txBody>
          <a:bodyPr wrap="square" lIns="54864" tIns="27432" rIns="54864">
            <a:spAutoFit/>
          </a:bodyPr>
          <a:lstStyle/>
          <a:p>
            <a:pPr algn="l"/>
            <a:r>
              <a:rPr sz="1300" b="1">
                <a:solidFill>
                  <a:srgbClr val="2563EB"/>
                </a:solidFill>
                <a:latin typeface="Aptos"/>
              </a:rPr>
              <a:t>DEMO SCRIPT</a:t>
            </a:r>
          </a:p>
        </p:txBody>
      </p:sp>
      <p:sp>
        <p:nvSpPr>
          <p:cNvPr id="16" name="TextBox 15"/>
          <p:cNvSpPr txBox="1"/>
          <p:nvPr/>
        </p:nvSpPr>
        <p:spPr>
          <a:xfrm>
            <a:off x="7735824" y="3867912"/>
            <a:ext cx="3730752" cy="1737360"/>
          </a:xfrm>
          <a:prstGeom prst="rect">
            <a:avLst/>
          </a:prstGeom>
          <a:noFill/>
        </p:spPr>
        <p:txBody>
          <a:bodyPr wrap="square" lIns="54864" tIns="27432" rIns="54864">
            <a:spAutoFit/>
          </a:bodyPr>
          <a:lstStyle/>
          <a:p>
            <a:pPr algn="l"/>
            <a:r>
              <a:rPr sz="1400" b="0">
                <a:solidFill>
                  <a:srgbClr val="64748B"/>
                </a:solidFill>
                <a:latin typeface="Aptos"/>
              </a:rPr>
              <a:t>1. Start capacity-aware controller; show the 3-1-0 assignment log.</a:t>
            </a:r>
          </a:p>
          <a:p>
            <a:pPr algn="l"/>
            <a:r>
              <a:rPr sz="1400" b="0">
                <a:solidFill>
                  <a:srgbClr val="64748B"/>
                </a:solidFill>
                <a:latin typeface="Aptos"/>
              </a:rPr>
              <a:t>2. Launch flash crowd; watch per-client latency.</a:t>
            </a:r>
          </a:p>
          <a:p>
            <a:pPr algn="l"/>
            <a:r>
              <a:rPr sz="1400" b="0">
                <a:solidFill>
                  <a:srgbClr val="64748B"/>
                </a:solidFill>
                <a:latin typeface="Aptos"/>
              </a:rPr>
              <a:t>3. Highlight P99 vs the round-robin baseline.</a:t>
            </a:r>
          </a:p>
          <a:p>
            <a:pPr algn="l"/>
            <a:r>
              <a:rPr sz="1400" b="0">
                <a:solidFill>
                  <a:srgbClr val="64748B"/>
                </a:solidFill>
                <a:latin typeface="Aptos"/>
              </a:rPr>
              <a:t>4. Swap to EWMA to show the inverted-signal herding.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58368"/>
            <a:ext cx="11155680" cy="502920"/>
          </a:xfrm>
          <a:prstGeom prst="rect">
            <a:avLst/>
          </a:prstGeom>
          <a:noFill/>
        </p:spPr>
        <p:txBody>
          <a:bodyPr wrap="square" lIns="54864" tIns="27432" rIns="54864">
            <a:spAutoFit/>
          </a:bodyPr>
          <a:lstStyle/>
          <a:p>
            <a:pPr algn="l"/>
            <a:r>
              <a:rPr sz="2600" b="1">
                <a:solidFill>
                  <a:srgbClr val="12223E"/>
                </a:solidFill>
                <a:latin typeface="Aptos"/>
              </a:rPr>
              <a:t>Contribution, learning outcomes and CO mapping</a:t>
            </a:r>
          </a:p>
        </p:txBody>
      </p:sp>
      <p:sp>
        <p:nvSpPr>
          <p:cNvPr id="5" name="Rectangle 4"/>
          <p:cNvSpPr/>
          <p:nvPr/>
        </p:nvSpPr>
        <p:spPr>
          <a:xfrm>
            <a:off x="502920" y="1261872"/>
            <a:ext cx="11155680"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064240" y="6510528"/>
            <a:ext cx="548640" cy="182880"/>
          </a:xfrm>
          <a:prstGeom prst="rect">
            <a:avLst/>
          </a:prstGeom>
          <a:noFill/>
        </p:spPr>
        <p:txBody>
          <a:bodyPr wrap="square" lIns="54864" tIns="27432" rIns="54864">
            <a:spAutoFit/>
          </a:bodyPr>
          <a:lstStyle/>
          <a:p>
            <a:pPr algn="r"/>
            <a:r>
              <a:rPr sz="900" b="1">
                <a:solidFill>
                  <a:srgbClr val="64748B"/>
                </a:solidFill>
                <a:latin typeface="Aptos"/>
              </a:rPr>
              <a:t>10</a:t>
            </a:r>
          </a:p>
        </p:txBody>
      </p:sp>
      <p:sp>
        <p:nvSpPr>
          <p:cNvPr id="8" name="Rounded Rectangle 7"/>
          <p:cNvSpPr/>
          <p:nvPr/>
        </p:nvSpPr>
        <p:spPr>
          <a:xfrm>
            <a:off x="594360" y="1554480"/>
            <a:ext cx="5394960" cy="1645920"/>
          </a:xfrm>
          <a:prstGeom prst="roundRect">
            <a:avLst>
              <a:gd name="adj" fmla="val 12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0664" y="1664207"/>
            <a:ext cx="5102352" cy="256032"/>
          </a:xfrm>
          <a:prstGeom prst="rect">
            <a:avLst/>
          </a:prstGeom>
          <a:noFill/>
        </p:spPr>
        <p:txBody>
          <a:bodyPr wrap="square" lIns="54864" tIns="27432" rIns="54864">
            <a:spAutoFit/>
          </a:bodyPr>
          <a:lstStyle/>
          <a:p>
            <a:pPr algn="l"/>
            <a:r>
              <a:rPr sz="1300" b="1">
                <a:solidFill>
                  <a:srgbClr val="2563EB"/>
                </a:solidFill>
                <a:latin typeface="Aptos"/>
              </a:rPr>
              <a:t>PROJECT CONTRIBUTION</a:t>
            </a:r>
          </a:p>
        </p:txBody>
      </p:sp>
      <p:sp>
        <p:nvSpPr>
          <p:cNvPr id="10" name="TextBox 9"/>
          <p:cNvSpPr txBox="1"/>
          <p:nvPr/>
        </p:nvSpPr>
        <p:spPr>
          <a:xfrm>
            <a:off x="740664" y="1993391"/>
            <a:ext cx="5102352" cy="1143000"/>
          </a:xfrm>
          <a:prstGeom prst="rect">
            <a:avLst/>
          </a:prstGeom>
          <a:noFill/>
        </p:spPr>
        <p:txBody>
          <a:bodyPr wrap="square" lIns="54864" tIns="27432" rIns="54864">
            <a:spAutoFit/>
          </a:bodyPr>
          <a:lstStyle/>
          <a:p>
            <a:pPr algn="l"/>
            <a:r>
              <a:rPr sz="1100" b="0">
                <a:solidFill>
                  <a:srgbClr val="64748B"/>
                </a:solidFill>
                <a:latin typeface="Aptos"/>
              </a:rPr>
              <a:t>Built a reproducible SDN LB testbed with seven controller policies.</a:t>
            </a:r>
          </a:p>
          <a:p>
            <a:pPr algn="l"/>
            <a:r>
              <a:rPr sz="1100" b="0">
                <a:solidFill>
                  <a:srgbClr val="64748B"/>
                </a:solidFill>
                <a:latin typeface="Aptos"/>
              </a:rPr>
              <a:t>Showed empirically that byte-rate load signals invert for compute-bound servers.</a:t>
            </a:r>
          </a:p>
          <a:p>
            <a:pPr algn="l"/>
            <a:r>
              <a:rPr sz="1100" b="0">
                <a:solidFill>
                  <a:srgbClr val="64748B"/>
                </a:solidFill>
                <a:latin typeface="Aptos"/>
              </a:rPr>
              <a:t>Identified the concurrency-bounding mechanism behind round-robin's strength.</a:t>
            </a:r>
          </a:p>
          <a:p>
            <a:pPr algn="l"/>
            <a:r>
              <a:rPr sz="1100" b="0">
                <a:solidFill>
                  <a:srgbClr val="64748B"/>
                </a:solidFill>
                <a:latin typeface="Aptos"/>
              </a:rPr>
              <a:t>Designed a capacity-aware policy that beats round-robin at 100% success.</a:t>
            </a:r>
          </a:p>
        </p:txBody>
      </p:sp>
      <p:sp>
        <p:nvSpPr>
          <p:cNvPr id="11" name="Rounded Rectangle 10"/>
          <p:cNvSpPr/>
          <p:nvPr/>
        </p:nvSpPr>
        <p:spPr>
          <a:xfrm>
            <a:off x="6217920" y="1554480"/>
            <a:ext cx="5394960" cy="1645920"/>
          </a:xfrm>
          <a:prstGeom prst="roundRect">
            <a:avLst>
              <a:gd name="adj" fmla="val 12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64224" y="1664207"/>
            <a:ext cx="5102352" cy="256032"/>
          </a:xfrm>
          <a:prstGeom prst="rect">
            <a:avLst/>
          </a:prstGeom>
          <a:noFill/>
        </p:spPr>
        <p:txBody>
          <a:bodyPr wrap="square" lIns="54864" tIns="27432" rIns="54864">
            <a:spAutoFit/>
          </a:bodyPr>
          <a:lstStyle/>
          <a:p>
            <a:pPr algn="l"/>
            <a:r>
              <a:rPr sz="1300" b="1">
                <a:solidFill>
                  <a:srgbClr val="2563EB"/>
                </a:solidFill>
                <a:latin typeface="Aptos"/>
              </a:rPr>
              <a:t>LIMITATIONS AND FUTURE WORK</a:t>
            </a:r>
          </a:p>
        </p:txBody>
      </p:sp>
      <p:sp>
        <p:nvSpPr>
          <p:cNvPr id="13" name="TextBox 12"/>
          <p:cNvSpPr txBox="1"/>
          <p:nvPr/>
        </p:nvSpPr>
        <p:spPr>
          <a:xfrm>
            <a:off x="6364224" y="1993391"/>
            <a:ext cx="5102352" cy="1143000"/>
          </a:xfrm>
          <a:prstGeom prst="rect">
            <a:avLst/>
          </a:prstGeom>
          <a:noFill/>
        </p:spPr>
        <p:txBody>
          <a:bodyPr wrap="square" lIns="54864" tIns="27432" rIns="54864">
            <a:spAutoFit/>
          </a:bodyPr>
          <a:lstStyle/>
          <a:p>
            <a:pPr algn="l"/>
            <a:r>
              <a:rPr sz="1400" b="0">
                <a:solidFill>
                  <a:srgbClr val="64748B"/>
                </a:solidFill>
                <a:latin typeface="Aptos"/>
              </a:rPr>
              <a:t>Limitations: emulation only; service times assumed known; win depends on light-enough load.</a:t>
            </a:r>
          </a:p>
          <a:p>
            <a:pPr algn="l"/>
            <a:r>
              <a:rPr sz="1400" b="0">
                <a:solidFill>
                  <a:srgbClr val="64748B"/>
                </a:solidFill>
                <a:latin typeface="Aptos"/>
              </a:rPr>
              <a:t>Future work: estimate service times online; combine pinning with admission control; hardware trial.</a:t>
            </a:r>
          </a:p>
        </p:txBody>
      </p:sp>
      <p:sp>
        <p:nvSpPr>
          <p:cNvPr id="14" name="TextBox 13"/>
          <p:cNvSpPr txBox="1"/>
          <p:nvPr/>
        </p:nvSpPr>
        <p:spPr>
          <a:xfrm>
            <a:off x="685800" y="3429000"/>
            <a:ext cx="10058400" cy="274320"/>
          </a:xfrm>
          <a:prstGeom prst="rect">
            <a:avLst/>
          </a:prstGeom>
          <a:noFill/>
        </p:spPr>
        <p:txBody>
          <a:bodyPr wrap="square" lIns="54864" tIns="27432" rIns="54864">
            <a:spAutoFit/>
          </a:bodyPr>
          <a:lstStyle/>
          <a:p>
            <a:pPr algn="l"/>
            <a:r>
              <a:rPr sz="1500" b="1">
                <a:solidFill>
                  <a:srgbClr val="12223E"/>
                </a:solidFill>
                <a:latin typeface="Aptos"/>
              </a:rPr>
              <a:t>Course outcome mapping — edit to match official course COs</a:t>
            </a:r>
          </a:p>
        </p:txBody>
      </p:sp>
      <p:graphicFrame>
        <p:nvGraphicFramePr>
          <p:cNvPr id="15" name="Table 14"/>
          <p:cNvGraphicFramePr>
            <a:graphicFrameLocks noGrp="1"/>
          </p:cNvGraphicFramePr>
          <p:nvPr/>
        </p:nvGraphicFramePr>
        <p:xfrm>
          <a:off x="685800" y="3840480"/>
          <a:ext cx="10789920" cy="1645920"/>
        </p:xfrm>
        <a:graphic>
          <a:graphicData uri="http://schemas.openxmlformats.org/drawingml/2006/table">
            <a:tbl>
              <a:tblPr firstRow="1" bandRow="1">
                <a:tableStyleId>{5C22544A-7EE6-4342-B048-85BDC9FD1C3A}</a:tableStyleId>
              </a:tblPr>
              <a:tblGrid>
                <a:gridCol w="2697480">
                  <a:extLst>
                    <a:ext uri="{9D8B030D-6E8A-4147-A177-3AD203B41FA5}">
                      <a16:colId xmlns:a16="http://schemas.microsoft.com/office/drawing/2014/main" val="20000"/>
                    </a:ext>
                  </a:extLst>
                </a:gridCol>
                <a:gridCol w="2697480">
                  <a:extLst>
                    <a:ext uri="{9D8B030D-6E8A-4147-A177-3AD203B41FA5}">
                      <a16:colId xmlns:a16="http://schemas.microsoft.com/office/drawing/2014/main" val="20001"/>
                    </a:ext>
                  </a:extLst>
                </a:gridCol>
                <a:gridCol w="2697480">
                  <a:extLst>
                    <a:ext uri="{9D8B030D-6E8A-4147-A177-3AD203B41FA5}">
                      <a16:colId xmlns:a16="http://schemas.microsoft.com/office/drawing/2014/main" val="20002"/>
                    </a:ext>
                  </a:extLst>
                </a:gridCol>
                <a:gridCol w="2697480">
                  <a:extLst>
                    <a:ext uri="{9D8B030D-6E8A-4147-A177-3AD203B41FA5}">
                      <a16:colId xmlns:a16="http://schemas.microsoft.com/office/drawing/2014/main" val="20003"/>
                    </a:ext>
                  </a:extLst>
                </a:gridCol>
              </a:tblGrid>
              <a:tr h="411480">
                <a:tc>
                  <a:txBody>
                    <a:bodyPr/>
                    <a:lstStyle/>
                    <a:p>
                      <a:pPr>
                        <a:defRPr sz="1000" b="1">
                          <a:solidFill>
                            <a:srgbClr val="FFFFFF"/>
                          </a:solidFill>
                          <a:latin typeface="Aptos"/>
                        </a:defRPr>
                      </a:pPr>
                      <a:r>
                        <a:t>Course outcome</a:t>
                      </a:r>
                    </a:p>
                  </a:txBody>
                  <a:tcPr>
                    <a:solidFill>
                      <a:srgbClr val="12223E"/>
                    </a:solidFill>
                  </a:tcPr>
                </a:tc>
                <a:tc>
                  <a:txBody>
                    <a:bodyPr/>
                    <a:lstStyle/>
                    <a:p>
                      <a:pPr>
                        <a:defRPr sz="1000" b="1">
                          <a:solidFill>
                            <a:srgbClr val="FFFFFF"/>
                          </a:solidFill>
                          <a:latin typeface="Aptos"/>
                        </a:defRPr>
                      </a:pPr>
                      <a:r>
                        <a:t>Where demonstrated</a:t>
                      </a:r>
                    </a:p>
                  </a:txBody>
                  <a:tcPr>
                    <a:solidFill>
                      <a:srgbClr val="12223E"/>
                    </a:solidFill>
                  </a:tcPr>
                </a:tc>
                <a:tc>
                  <a:txBody>
                    <a:bodyPr/>
                    <a:lstStyle/>
                    <a:p>
                      <a:pPr>
                        <a:defRPr sz="1000" b="1">
                          <a:solidFill>
                            <a:srgbClr val="FFFFFF"/>
                          </a:solidFill>
                          <a:latin typeface="Aptos"/>
                        </a:defRPr>
                      </a:pPr>
                      <a:r>
                        <a:t>Evidence</a:t>
                      </a:r>
                    </a:p>
                  </a:txBody>
                  <a:tcPr>
                    <a:solidFill>
                      <a:srgbClr val="12223E"/>
                    </a:solidFill>
                  </a:tcPr>
                </a:tc>
                <a:tc>
                  <a:txBody>
                    <a:bodyPr/>
                    <a:lstStyle/>
                    <a:p>
                      <a:pPr>
                        <a:defRPr sz="1000" b="1">
                          <a:solidFill>
                            <a:srgbClr val="FFFFFF"/>
                          </a:solidFill>
                          <a:latin typeface="Aptos"/>
                        </a:defRPr>
                      </a:pPr>
                      <a:r>
                        <a:t>Artifact</a:t>
                      </a:r>
                    </a:p>
                  </a:txBody>
                  <a:tcPr>
                    <a:solidFill>
                      <a:srgbClr val="12223E"/>
                    </a:solidFill>
                  </a:tcPr>
                </a:tc>
                <a:extLst>
                  <a:ext uri="{0D108BD9-81ED-4DB2-BD59-A6C34878D82A}">
                    <a16:rowId xmlns:a16="http://schemas.microsoft.com/office/drawing/2014/main" val="10000"/>
                  </a:ext>
                </a:extLst>
              </a:tr>
              <a:tr h="411480">
                <a:tc>
                  <a:txBody>
                    <a:bodyPr/>
                    <a:lstStyle/>
                    <a:p>
                      <a:pPr>
                        <a:defRPr sz="1000">
                          <a:solidFill>
                            <a:srgbClr val="1E293B"/>
                          </a:solidFill>
                          <a:latin typeface="Aptos"/>
                        </a:defRPr>
                      </a:pPr>
                      <a:r>
                        <a:t>Apply SDN / OpenFlow concepts</a:t>
                      </a:r>
                    </a:p>
                  </a:txBody>
                  <a:tcPr>
                    <a:solidFill>
                      <a:srgbClr val="FFFFFF"/>
                    </a:solidFill>
                  </a:tcPr>
                </a:tc>
                <a:tc>
                  <a:txBody>
                    <a:bodyPr/>
                    <a:lstStyle/>
                    <a:p>
                      <a:pPr>
                        <a:defRPr sz="1000">
                          <a:solidFill>
                            <a:srgbClr val="1E293B"/>
                          </a:solidFill>
                          <a:latin typeface="Aptos"/>
                        </a:defRPr>
                      </a:pPr>
                      <a:r>
                        <a:t>Controller design, flow install</a:t>
                      </a:r>
                    </a:p>
                  </a:txBody>
                  <a:tcPr>
                    <a:solidFill>
                      <a:srgbClr val="FFFFFF"/>
                    </a:solidFill>
                  </a:tcPr>
                </a:tc>
                <a:tc>
                  <a:txBody>
                    <a:bodyPr/>
                    <a:lstStyle/>
                    <a:p>
                      <a:pPr>
                        <a:defRPr sz="1000">
                          <a:solidFill>
                            <a:srgbClr val="1E293B"/>
                          </a:solidFill>
                          <a:latin typeface="Aptos"/>
                        </a:defRPr>
                      </a:pPr>
                      <a:r>
                        <a:t>7 working Ryu policies</a:t>
                      </a:r>
                    </a:p>
                  </a:txBody>
                  <a:tcPr>
                    <a:solidFill>
                      <a:srgbClr val="FFFFFF"/>
                    </a:solidFill>
                  </a:tcPr>
                </a:tc>
                <a:tc>
                  <a:txBody>
                    <a:bodyPr/>
                    <a:lstStyle/>
                    <a:p>
                      <a:pPr>
                        <a:defRPr sz="1000">
                          <a:solidFill>
                            <a:srgbClr val="1E293B"/>
                          </a:solidFill>
                          <a:latin typeface="Aptos"/>
                        </a:defRPr>
                      </a:pPr>
                      <a:r>
                        <a:t>src/lb_*.py</a:t>
                      </a:r>
                    </a:p>
                  </a:txBody>
                  <a:tcPr>
                    <a:solidFill>
                      <a:srgbClr val="FFFFFF"/>
                    </a:solidFill>
                  </a:tcPr>
                </a:tc>
                <a:extLst>
                  <a:ext uri="{0D108BD9-81ED-4DB2-BD59-A6C34878D82A}">
                    <a16:rowId xmlns:a16="http://schemas.microsoft.com/office/drawing/2014/main" val="10001"/>
                  </a:ext>
                </a:extLst>
              </a:tr>
              <a:tr h="411480">
                <a:tc>
                  <a:txBody>
                    <a:bodyPr/>
                    <a:lstStyle/>
                    <a:p>
                      <a:pPr>
                        <a:defRPr sz="1000">
                          <a:solidFill>
                            <a:srgbClr val="1E293B"/>
                          </a:solidFill>
                          <a:latin typeface="Aptos"/>
                        </a:defRPr>
                      </a:pPr>
                      <a:r>
                        <a:t>Design &amp; evaluate a network system</a:t>
                      </a:r>
                    </a:p>
                  </a:txBody>
                  <a:tcPr>
                    <a:solidFill>
                      <a:srgbClr val="EFF6FF"/>
                    </a:solidFill>
                  </a:tcPr>
                </a:tc>
                <a:tc>
                  <a:txBody>
                    <a:bodyPr/>
                    <a:lstStyle/>
                    <a:p>
                      <a:pPr>
                        <a:defRPr sz="1000">
                          <a:solidFill>
                            <a:srgbClr val="1E293B"/>
                          </a:solidFill>
                          <a:latin typeface="Aptos"/>
                        </a:defRPr>
                      </a:pPr>
                      <a:r>
                        <a:t>Testbed + 7-run study</a:t>
                      </a:r>
                    </a:p>
                  </a:txBody>
                  <a:tcPr>
                    <a:solidFill>
                      <a:srgbClr val="EFF6FF"/>
                    </a:solidFill>
                  </a:tcPr>
                </a:tc>
                <a:tc>
                  <a:txBody>
                    <a:bodyPr/>
                    <a:lstStyle/>
                    <a:p>
                      <a:pPr>
                        <a:defRPr sz="1000">
                          <a:solidFill>
                            <a:srgbClr val="1E293B"/>
                          </a:solidFill>
                          <a:latin typeface="Aptos"/>
                        </a:defRPr>
                      </a:pPr>
                      <a:r>
                        <a:t>mean ± SD results</a:t>
                      </a:r>
                    </a:p>
                  </a:txBody>
                  <a:tcPr>
                    <a:solidFill>
                      <a:srgbClr val="EFF6FF"/>
                    </a:solidFill>
                  </a:tcPr>
                </a:tc>
                <a:tc>
                  <a:txBody>
                    <a:bodyPr/>
                    <a:lstStyle/>
                    <a:p>
                      <a:pPr>
                        <a:defRPr sz="1000">
                          <a:solidFill>
                            <a:srgbClr val="1E293B"/>
                          </a:solidFill>
                          <a:latin typeface="Aptos"/>
                        </a:defRPr>
                      </a:pPr>
                      <a:r>
                        <a:t>results/*.csv</a:t>
                      </a:r>
                    </a:p>
                  </a:txBody>
                  <a:tcPr>
                    <a:solidFill>
                      <a:srgbClr val="EFF6FF"/>
                    </a:solidFill>
                  </a:tcPr>
                </a:tc>
                <a:extLst>
                  <a:ext uri="{0D108BD9-81ED-4DB2-BD59-A6C34878D82A}">
                    <a16:rowId xmlns:a16="http://schemas.microsoft.com/office/drawing/2014/main" val="10002"/>
                  </a:ext>
                </a:extLst>
              </a:tr>
              <a:tr h="411480">
                <a:tc>
                  <a:txBody>
                    <a:bodyPr/>
                    <a:lstStyle/>
                    <a:p>
                      <a:pPr>
                        <a:defRPr sz="1000">
                          <a:solidFill>
                            <a:srgbClr val="1E293B"/>
                          </a:solidFill>
                          <a:latin typeface="Aptos"/>
                        </a:defRPr>
                      </a:pPr>
                      <a:r>
                        <a:t>Analyse performance &amp; justify</a:t>
                      </a:r>
                    </a:p>
                  </a:txBody>
                  <a:tcPr>
                    <a:solidFill>
                      <a:srgbClr val="FFFFFF"/>
                    </a:solidFill>
                  </a:tcPr>
                </a:tc>
                <a:tc>
                  <a:txBody>
                    <a:bodyPr/>
                    <a:lstStyle/>
                    <a:p>
                      <a:pPr>
                        <a:defRPr sz="1000">
                          <a:solidFill>
                            <a:srgbClr val="1E293B"/>
                          </a:solidFill>
                          <a:latin typeface="Aptos"/>
                        </a:defRPr>
                      </a:pPr>
                      <a:r>
                        <a:t>Mechanism + capacity-aware policy</a:t>
                      </a:r>
                    </a:p>
                  </a:txBody>
                  <a:tcPr>
                    <a:solidFill>
                      <a:srgbClr val="FFFFFF"/>
                    </a:solidFill>
                  </a:tcPr>
                </a:tc>
                <a:tc>
                  <a:txBody>
                    <a:bodyPr/>
                    <a:lstStyle/>
                    <a:p>
                      <a:pPr>
                        <a:defRPr sz="1000">
                          <a:solidFill>
                            <a:srgbClr val="1E293B"/>
                          </a:solidFill>
                          <a:latin typeface="Aptos"/>
                        </a:defRPr>
                      </a:pPr>
                      <a:r>
                        <a:t>P99 98.9 -&gt; 48.8 ms</a:t>
                      </a:r>
                    </a:p>
                  </a:txBody>
                  <a:tcPr>
                    <a:solidFill>
                      <a:srgbClr val="FFFFFF"/>
                    </a:solidFill>
                  </a:tcPr>
                </a:tc>
                <a:tc>
                  <a:txBody>
                    <a:bodyPr/>
                    <a:lstStyle/>
                    <a:p>
                      <a:pPr>
                        <a:defRPr sz="1000">
                          <a:solidFill>
                            <a:srgbClr val="1E293B"/>
                          </a:solidFill>
                          <a:latin typeface="Aptos"/>
                        </a:defRPr>
                      </a:pPr>
                      <a:r>
                        <a:t>paper §V</a:t>
                      </a:r>
                    </a:p>
                  </a:txBody>
                  <a:tcP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58368"/>
            <a:ext cx="11155680" cy="502920"/>
          </a:xfrm>
          <a:prstGeom prst="rect">
            <a:avLst/>
          </a:prstGeom>
          <a:noFill/>
        </p:spPr>
        <p:txBody>
          <a:bodyPr wrap="square" lIns="54864" tIns="27432" rIns="54864">
            <a:spAutoFit/>
          </a:bodyPr>
          <a:lstStyle/>
          <a:p>
            <a:pPr algn="l"/>
            <a:r>
              <a:rPr sz="2600" b="1">
                <a:solidFill>
                  <a:srgbClr val="12223E"/>
                </a:solidFill>
                <a:latin typeface="Aptos"/>
              </a:rPr>
              <a:t>Team contribution and project management</a:t>
            </a:r>
          </a:p>
        </p:txBody>
      </p:sp>
      <p:sp>
        <p:nvSpPr>
          <p:cNvPr id="5" name="Rectangle 4"/>
          <p:cNvSpPr/>
          <p:nvPr/>
        </p:nvSpPr>
        <p:spPr>
          <a:xfrm>
            <a:off x="502920" y="1261872"/>
            <a:ext cx="11155680"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064240" y="6510528"/>
            <a:ext cx="548640" cy="182880"/>
          </a:xfrm>
          <a:prstGeom prst="rect">
            <a:avLst/>
          </a:prstGeom>
          <a:noFill/>
        </p:spPr>
        <p:txBody>
          <a:bodyPr wrap="square" lIns="54864" tIns="27432" rIns="54864">
            <a:spAutoFit/>
          </a:bodyPr>
          <a:lstStyle/>
          <a:p>
            <a:pPr algn="r"/>
            <a:r>
              <a:rPr sz="900" b="1">
                <a:solidFill>
                  <a:srgbClr val="64748B"/>
                </a:solidFill>
                <a:latin typeface="Aptos"/>
              </a:rPr>
              <a:t>11</a:t>
            </a:r>
          </a:p>
        </p:txBody>
      </p:sp>
      <p:sp>
        <p:nvSpPr>
          <p:cNvPr id="8" name="TextBox 7"/>
          <p:cNvSpPr txBox="1"/>
          <p:nvPr/>
        </p:nvSpPr>
        <p:spPr>
          <a:xfrm>
            <a:off x="685800" y="1554480"/>
            <a:ext cx="10058400" cy="274320"/>
          </a:xfrm>
          <a:prstGeom prst="rect">
            <a:avLst/>
          </a:prstGeom>
          <a:noFill/>
        </p:spPr>
        <p:txBody>
          <a:bodyPr wrap="square" lIns="54864" tIns="27432" rIns="54864">
            <a:spAutoFit/>
          </a:bodyPr>
          <a:lstStyle/>
          <a:p>
            <a:pPr algn="l"/>
            <a:r>
              <a:rPr sz="1600" b="1">
                <a:solidFill>
                  <a:srgbClr val="12223E"/>
                </a:solidFill>
                <a:latin typeface="Aptos"/>
              </a:rPr>
              <a:t>Individual accountability</a:t>
            </a:r>
          </a:p>
        </p:txBody>
      </p:sp>
      <p:graphicFrame>
        <p:nvGraphicFramePr>
          <p:cNvPr id="9" name="Table 8"/>
          <p:cNvGraphicFramePr>
            <a:graphicFrameLocks noGrp="1"/>
          </p:cNvGraphicFramePr>
          <p:nvPr/>
        </p:nvGraphicFramePr>
        <p:xfrm>
          <a:off x="685800" y="1920240"/>
          <a:ext cx="10789920" cy="2423160"/>
        </p:xfrm>
        <a:graphic>
          <a:graphicData uri="http://schemas.openxmlformats.org/drawingml/2006/table">
            <a:tbl>
              <a:tblPr firstRow="1" bandRow="1">
                <a:tableStyleId>{5C22544A-7EE6-4342-B048-85BDC9FD1C3A}</a:tableStyleId>
              </a:tblPr>
              <a:tblGrid>
                <a:gridCol w="2697480">
                  <a:extLst>
                    <a:ext uri="{9D8B030D-6E8A-4147-A177-3AD203B41FA5}">
                      <a16:colId xmlns:a16="http://schemas.microsoft.com/office/drawing/2014/main" val="20000"/>
                    </a:ext>
                  </a:extLst>
                </a:gridCol>
                <a:gridCol w="2697480">
                  <a:extLst>
                    <a:ext uri="{9D8B030D-6E8A-4147-A177-3AD203B41FA5}">
                      <a16:colId xmlns:a16="http://schemas.microsoft.com/office/drawing/2014/main" val="20001"/>
                    </a:ext>
                  </a:extLst>
                </a:gridCol>
                <a:gridCol w="2697480">
                  <a:extLst>
                    <a:ext uri="{9D8B030D-6E8A-4147-A177-3AD203B41FA5}">
                      <a16:colId xmlns:a16="http://schemas.microsoft.com/office/drawing/2014/main" val="20002"/>
                    </a:ext>
                  </a:extLst>
                </a:gridCol>
                <a:gridCol w="2697480">
                  <a:extLst>
                    <a:ext uri="{9D8B030D-6E8A-4147-A177-3AD203B41FA5}">
                      <a16:colId xmlns:a16="http://schemas.microsoft.com/office/drawing/2014/main" val="20003"/>
                    </a:ext>
                  </a:extLst>
                </a:gridCol>
              </a:tblGrid>
              <a:tr h="403860">
                <a:tc>
                  <a:txBody>
                    <a:bodyPr/>
                    <a:lstStyle/>
                    <a:p>
                      <a:pPr>
                        <a:defRPr sz="1000" b="1">
                          <a:solidFill>
                            <a:srgbClr val="FFFFFF"/>
                          </a:solidFill>
                          <a:latin typeface="Aptos"/>
                        </a:defRPr>
                      </a:pPr>
                      <a:r>
                        <a:t>Member</a:t>
                      </a:r>
                    </a:p>
                  </a:txBody>
                  <a:tcPr>
                    <a:solidFill>
                      <a:srgbClr val="12223E"/>
                    </a:solidFill>
                  </a:tcPr>
                </a:tc>
                <a:tc>
                  <a:txBody>
                    <a:bodyPr/>
                    <a:lstStyle/>
                    <a:p>
                      <a:pPr>
                        <a:defRPr sz="1000" b="1">
                          <a:solidFill>
                            <a:srgbClr val="FFFFFF"/>
                          </a:solidFill>
                          <a:latin typeface="Aptos"/>
                        </a:defRPr>
                      </a:pPr>
                      <a:r>
                        <a:t>Register no.</a:t>
                      </a:r>
                    </a:p>
                  </a:txBody>
                  <a:tcPr>
                    <a:solidFill>
                      <a:srgbClr val="12223E"/>
                    </a:solidFill>
                  </a:tcPr>
                </a:tc>
                <a:tc>
                  <a:txBody>
                    <a:bodyPr/>
                    <a:lstStyle/>
                    <a:p>
                      <a:pPr>
                        <a:defRPr sz="1000" b="1">
                          <a:solidFill>
                            <a:srgbClr val="FFFFFF"/>
                          </a:solidFill>
                          <a:latin typeface="Aptos"/>
                        </a:defRPr>
                      </a:pPr>
                      <a:r>
                        <a:t>Role</a:t>
                      </a:r>
                    </a:p>
                  </a:txBody>
                  <a:tcPr>
                    <a:solidFill>
                      <a:srgbClr val="12223E"/>
                    </a:solidFill>
                  </a:tcPr>
                </a:tc>
                <a:tc>
                  <a:txBody>
                    <a:bodyPr/>
                    <a:lstStyle/>
                    <a:p>
                      <a:pPr>
                        <a:defRPr sz="1000" b="1">
                          <a:solidFill>
                            <a:srgbClr val="FFFFFF"/>
                          </a:solidFill>
                          <a:latin typeface="Aptos"/>
                        </a:defRPr>
                      </a:pPr>
                      <a:r>
                        <a:t>Contribution</a:t>
                      </a:r>
                    </a:p>
                  </a:txBody>
                  <a:tcPr>
                    <a:solidFill>
                      <a:srgbClr val="12223E"/>
                    </a:solidFill>
                  </a:tcPr>
                </a:tc>
                <a:extLst>
                  <a:ext uri="{0D108BD9-81ED-4DB2-BD59-A6C34878D82A}">
                    <a16:rowId xmlns:a16="http://schemas.microsoft.com/office/drawing/2014/main" val="10000"/>
                  </a:ext>
                </a:extLst>
              </a:tr>
              <a:tr h="403860">
                <a:tc>
                  <a:txBody>
                    <a:bodyPr/>
                    <a:lstStyle/>
                    <a:p>
                      <a:pPr>
                        <a:defRPr sz="1000">
                          <a:solidFill>
                            <a:srgbClr val="1E293B"/>
                          </a:solidFill>
                          <a:latin typeface="Aptos"/>
                        </a:defRPr>
                      </a:pPr>
                      <a:r>
                        <a:t>Fida M S</a:t>
                      </a:r>
                    </a:p>
                  </a:txBody>
                  <a:tcPr>
                    <a:solidFill>
                      <a:srgbClr val="FFFFFF"/>
                    </a:solidFill>
                  </a:tcPr>
                </a:tc>
                <a:tc>
                  <a:txBody>
                    <a:bodyPr/>
                    <a:lstStyle/>
                    <a:p>
                      <a:pPr>
                        <a:defRPr sz="1000">
                          <a:solidFill>
                            <a:srgbClr val="1E293B"/>
                          </a:solidFill>
                          <a:latin typeface="Aptos"/>
                        </a:defRPr>
                      </a:pPr>
                      <a:r>
                        <a:t>24BAI0180</a:t>
                      </a:r>
                    </a:p>
                  </a:txBody>
                  <a:tcPr>
                    <a:solidFill>
                      <a:srgbClr val="FFFFFF"/>
                    </a:solidFill>
                  </a:tcPr>
                </a:tc>
                <a:tc>
                  <a:txBody>
                    <a:bodyPr/>
                    <a:lstStyle/>
                    <a:p>
                      <a:pPr>
                        <a:defRPr sz="1000">
                          <a:solidFill>
                            <a:srgbClr val="1E293B"/>
                          </a:solidFill>
                          <a:latin typeface="Aptos"/>
                        </a:defRPr>
                      </a:pPr>
                      <a:r>
                        <a:t>Everything</a:t>
                      </a:r>
                    </a:p>
                  </a:txBody>
                  <a:tcPr>
                    <a:solidFill>
                      <a:srgbClr val="FFFFFF"/>
                    </a:solidFill>
                  </a:tcPr>
                </a:tc>
                <a:tc>
                  <a:txBody>
                    <a:bodyPr/>
                    <a:lstStyle/>
                    <a:p>
                      <a:pPr>
                        <a:defRPr sz="1000">
                          <a:solidFill>
                            <a:srgbClr val="1E293B"/>
                          </a:solidFill>
                          <a:latin typeface="Aptos"/>
                        </a:defRPr>
                      </a:pPr>
                      <a:r>
                        <a:t>Design, implementation, experiments, analysis, writing</a:t>
                      </a:r>
                    </a:p>
                  </a:txBody>
                  <a:tcPr>
                    <a:solidFill>
                      <a:srgbClr val="FFFFFF"/>
                    </a:solidFill>
                  </a:tcPr>
                </a:tc>
                <a:extLst>
                  <a:ext uri="{0D108BD9-81ED-4DB2-BD59-A6C34878D82A}">
                    <a16:rowId xmlns:a16="http://schemas.microsoft.com/office/drawing/2014/main" val="10001"/>
                  </a:ext>
                </a:extLst>
              </a:tr>
              <a:tr h="403860">
                <a:tc>
                  <a:txBody>
                    <a:bodyPr/>
                    <a:lstStyle/>
                    <a:p>
                      <a:pPr>
                        <a:defRPr sz="1000">
                          <a:solidFill>
                            <a:srgbClr val="1E293B"/>
                          </a:solidFill>
                          <a:latin typeface="Aptos"/>
                        </a:defRPr>
                      </a:pPr>
                      <a:endParaRPr/>
                    </a:p>
                  </a:txBody>
                  <a:tcPr>
                    <a:solidFill>
                      <a:srgbClr val="EFF6FF"/>
                    </a:solidFill>
                  </a:tcPr>
                </a:tc>
                <a:tc>
                  <a:txBody>
                    <a:bodyPr/>
                    <a:lstStyle/>
                    <a:p>
                      <a:pPr>
                        <a:defRPr sz="1000">
                          <a:solidFill>
                            <a:srgbClr val="1E293B"/>
                          </a:solidFill>
                          <a:latin typeface="Aptos"/>
                        </a:defRPr>
                      </a:pPr>
                      <a:endParaRPr/>
                    </a:p>
                  </a:txBody>
                  <a:tcPr>
                    <a:solidFill>
                      <a:srgbClr val="EFF6FF"/>
                    </a:solidFill>
                  </a:tcPr>
                </a:tc>
                <a:tc>
                  <a:txBody>
                    <a:bodyPr/>
                    <a:lstStyle/>
                    <a:p>
                      <a:pPr>
                        <a:defRPr sz="1000">
                          <a:solidFill>
                            <a:srgbClr val="1E293B"/>
                          </a:solidFill>
                          <a:latin typeface="Aptos"/>
                        </a:defRPr>
                      </a:pPr>
                      <a:endParaRPr/>
                    </a:p>
                  </a:txBody>
                  <a:tcPr>
                    <a:solidFill>
                      <a:srgbClr val="EFF6FF"/>
                    </a:solidFill>
                  </a:tcPr>
                </a:tc>
                <a:tc>
                  <a:txBody>
                    <a:bodyPr/>
                    <a:lstStyle/>
                    <a:p>
                      <a:pPr>
                        <a:defRPr sz="1000">
                          <a:solidFill>
                            <a:srgbClr val="1E293B"/>
                          </a:solidFill>
                          <a:latin typeface="Aptos"/>
                        </a:defRPr>
                      </a:pPr>
                      <a:endParaRPr/>
                    </a:p>
                  </a:txBody>
                  <a:tcPr>
                    <a:solidFill>
                      <a:srgbClr val="EFF6FF"/>
                    </a:solidFill>
                  </a:tcPr>
                </a:tc>
                <a:extLst>
                  <a:ext uri="{0D108BD9-81ED-4DB2-BD59-A6C34878D82A}">
                    <a16:rowId xmlns:a16="http://schemas.microsoft.com/office/drawing/2014/main" val="10002"/>
                  </a:ext>
                </a:extLst>
              </a:tr>
              <a:tr h="403860">
                <a:tc>
                  <a:txBody>
                    <a:bodyPr/>
                    <a:lstStyle/>
                    <a:p>
                      <a:pPr>
                        <a:defRPr sz="1000">
                          <a:solidFill>
                            <a:srgbClr val="1E293B"/>
                          </a:solidFill>
                          <a:latin typeface="Aptos"/>
                        </a:defRPr>
                      </a:pPr>
                      <a:endParaRPr/>
                    </a:p>
                  </a:txBody>
                  <a:tcPr>
                    <a:solidFill>
                      <a:srgbClr val="FFFFFF"/>
                    </a:solidFill>
                  </a:tcPr>
                </a:tc>
                <a:tc>
                  <a:txBody>
                    <a:bodyPr/>
                    <a:lstStyle/>
                    <a:p>
                      <a:pPr>
                        <a:defRPr sz="1000">
                          <a:solidFill>
                            <a:srgbClr val="1E293B"/>
                          </a:solidFill>
                          <a:latin typeface="Aptos"/>
                        </a:defRPr>
                      </a:pPr>
                      <a:endParaRPr/>
                    </a:p>
                  </a:txBody>
                  <a:tcPr>
                    <a:solidFill>
                      <a:srgbClr val="FFFFFF"/>
                    </a:solidFill>
                  </a:tcPr>
                </a:tc>
                <a:tc>
                  <a:txBody>
                    <a:bodyPr/>
                    <a:lstStyle/>
                    <a:p>
                      <a:pPr>
                        <a:defRPr sz="1000">
                          <a:solidFill>
                            <a:srgbClr val="1E293B"/>
                          </a:solidFill>
                          <a:latin typeface="Aptos"/>
                        </a:defRPr>
                      </a:pPr>
                      <a:endParaRPr/>
                    </a:p>
                  </a:txBody>
                  <a:tcPr>
                    <a:solidFill>
                      <a:srgbClr val="FFFFFF"/>
                    </a:solidFill>
                  </a:tcPr>
                </a:tc>
                <a:tc>
                  <a:txBody>
                    <a:bodyPr/>
                    <a:lstStyle/>
                    <a:p>
                      <a:pPr>
                        <a:defRPr sz="1000">
                          <a:solidFill>
                            <a:srgbClr val="1E293B"/>
                          </a:solidFill>
                          <a:latin typeface="Aptos"/>
                        </a:defRPr>
                      </a:pPr>
                      <a:endParaRPr/>
                    </a:p>
                  </a:txBody>
                  <a:tcPr>
                    <a:solidFill>
                      <a:srgbClr val="FFFFFF"/>
                    </a:solidFill>
                  </a:tcPr>
                </a:tc>
                <a:extLst>
                  <a:ext uri="{0D108BD9-81ED-4DB2-BD59-A6C34878D82A}">
                    <a16:rowId xmlns:a16="http://schemas.microsoft.com/office/drawing/2014/main" val="10003"/>
                  </a:ext>
                </a:extLst>
              </a:tr>
              <a:tr h="403860">
                <a:tc>
                  <a:txBody>
                    <a:bodyPr/>
                    <a:lstStyle/>
                    <a:p>
                      <a:pPr>
                        <a:defRPr sz="1000">
                          <a:solidFill>
                            <a:srgbClr val="1E293B"/>
                          </a:solidFill>
                          <a:latin typeface="Aptos"/>
                        </a:defRPr>
                      </a:pPr>
                      <a:endParaRPr/>
                    </a:p>
                  </a:txBody>
                  <a:tcPr>
                    <a:solidFill>
                      <a:srgbClr val="EFF6FF"/>
                    </a:solidFill>
                  </a:tcPr>
                </a:tc>
                <a:tc>
                  <a:txBody>
                    <a:bodyPr/>
                    <a:lstStyle/>
                    <a:p>
                      <a:pPr>
                        <a:defRPr sz="1000">
                          <a:solidFill>
                            <a:srgbClr val="1E293B"/>
                          </a:solidFill>
                          <a:latin typeface="Aptos"/>
                        </a:defRPr>
                      </a:pPr>
                      <a:endParaRPr/>
                    </a:p>
                  </a:txBody>
                  <a:tcPr>
                    <a:solidFill>
                      <a:srgbClr val="EFF6FF"/>
                    </a:solidFill>
                  </a:tcPr>
                </a:tc>
                <a:tc>
                  <a:txBody>
                    <a:bodyPr/>
                    <a:lstStyle/>
                    <a:p>
                      <a:pPr>
                        <a:defRPr sz="1000">
                          <a:solidFill>
                            <a:srgbClr val="1E293B"/>
                          </a:solidFill>
                          <a:latin typeface="Aptos"/>
                        </a:defRPr>
                      </a:pPr>
                      <a:endParaRPr/>
                    </a:p>
                  </a:txBody>
                  <a:tcPr>
                    <a:solidFill>
                      <a:srgbClr val="EFF6FF"/>
                    </a:solidFill>
                  </a:tcPr>
                </a:tc>
                <a:tc>
                  <a:txBody>
                    <a:bodyPr/>
                    <a:lstStyle/>
                    <a:p>
                      <a:pPr>
                        <a:defRPr sz="1000">
                          <a:solidFill>
                            <a:srgbClr val="1E293B"/>
                          </a:solidFill>
                          <a:latin typeface="Aptos"/>
                        </a:defRPr>
                      </a:pPr>
                      <a:endParaRPr/>
                    </a:p>
                  </a:txBody>
                  <a:tcPr>
                    <a:solidFill>
                      <a:srgbClr val="EFF6FF"/>
                    </a:solidFill>
                  </a:tcPr>
                </a:tc>
                <a:extLst>
                  <a:ext uri="{0D108BD9-81ED-4DB2-BD59-A6C34878D82A}">
                    <a16:rowId xmlns:a16="http://schemas.microsoft.com/office/drawing/2014/main" val="10004"/>
                  </a:ext>
                </a:extLst>
              </a:tr>
              <a:tr h="403860">
                <a:tc>
                  <a:txBody>
                    <a:bodyPr/>
                    <a:lstStyle/>
                    <a:p>
                      <a:pPr>
                        <a:defRPr sz="1000">
                          <a:solidFill>
                            <a:srgbClr val="1E293B"/>
                          </a:solidFill>
                          <a:latin typeface="Aptos"/>
                        </a:defRPr>
                      </a:pPr>
                      <a:endParaRPr/>
                    </a:p>
                  </a:txBody>
                  <a:tcPr>
                    <a:solidFill>
                      <a:srgbClr val="FFFFFF"/>
                    </a:solidFill>
                  </a:tcPr>
                </a:tc>
                <a:tc>
                  <a:txBody>
                    <a:bodyPr/>
                    <a:lstStyle/>
                    <a:p>
                      <a:pPr>
                        <a:defRPr sz="1000">
                          <a:solidFill>
                            <a:srgbClr val="1E293B"/>
                          </a:solidFill>
                          <a:latin typeface="Aptos"/>
                        </a:defRPr>
                      </a:pPr>
                      <a:endParaRPr/>
                    </a:p>
                  </a:txBody>
                  <a:tcPr>
                    <a:solidFill>
                      <a:srgbClr val="FFFFFF"/>
                    </a:solidFill>
                  </a:tcPr>
                </a:tc>
                <a:tc>
                  <a:txBody>
                    <a:bodyPr/>
                    <a:lstStyle/>
                    <a:p>
                      <a:pPr>
                        <a:defRPr sz="1000">
                          <a:solidFill>
                            <a:srgbClr val="1E293B"/>
                          </a:solidFill>
                          <a:latin typeface="Aptos"/>
                        </a:defRPr>
                      </a:pPr>
                      <a:endParaRPr/>
                    </a:p>
                  </a:txBody>
                  <a:tcPr>
                    <a:solidFill>
                      <a:srgbClr val="FFFFFF"/>
                    </a:solidFill>
                  </a:tcPr>
                </a:tc>
                <a:tc>
                  <a:txBody>
                    <a:bodyPr/>
                    <a:lstStyle/>
                    <a:p>
                      <a:pPr>
                        <a:defRPr sz="1000">
                          <a:solidFill>
                            <a:srgbClr val="1E293B"/>
                          </a:solidFill>
                          <a:latin typeface="Aptos"/>
                        </a:defRPr>
                      </a:pPr>
                      <a:endParaRPr/>
                    </a:p>
                  </a:txBody>
                  <a:tcPr>
                    <a:solidFill>
                      <a:srgbClr val="FFFFFF"/>
                    </a:solidFill>
                  </a:tcPr>
                </a:tc>
                <a:extLst>
                  <a:ext uri="{0D108BD9-81ED-4DB2-BD59-A6C34878D82A}">
                    <a16:rowId xmlns:a16="http://schemas.microsoft.com/office/drawing/2014/main" val="10005"/>
                  </a:ext>
                </a:extLst>
              </a:tr>
            </a:tbl>
          </a:graphicData>
        </a:graphic>
      </p:graphicFrame>
      <p:sp>
        <p:nvSpPr>
          <p:cNvPr id="10" name="Rounded Rectangle 9"/>
          <p:cNvSpPr/>
          <p:nvPr/>
        </p:nvSpPr>
        <p:spPr>
          <a:xfrm>
            <a:off x="685800" y="4572000"/>
            <a:ext cx="5212080" cy="1627632"/>
          </a:xfrm>
          <a:prstGeom prst="roundRect">
            <a:avLst>
              <a:gd name="adj" fmla="val 12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2104" y="4681728"/>
            <a:ext cx="4919472" cy="256032"/>
          </a:xfrm>
          <a:prstGeom prst="rect">
            <a:avLst/>
          </a:prstGeom>
          <a:noFill/>
        </p:spPr>
        <p:txBody>
          <a:bodyPr wrap="square" lIns="54864" tIns="27432" rIns="54864">
            <a:spAutoFit/>
          </a:bodyPr>
          <a:lstStyle/>
          <a:p>
            <a:pPr algn="l"/>
            <a:r>
              <a:rPr sz="1300" b="1">
                <a:solidFill>
                  <a:srgbClr val="2563EB"/>
                </a:solidFill>
                <a:latin typeface="Aptos"/>
              </a:rPr>
              <a:t>MILESTONES</a:t>
            </a:r>
          </a:p>
        </p:txBody>
      </p:sp>
      <p:sp>
        <p:nvSpPr>
          <p:cNvPr id="12" name="TextBox 11"/>
          <p:cNvSpPr txBox="1"/>
          <p:nvPr/>
        </p:nvSpPr>
        <p:spPr>
          <a:xfrm>
            <a:off x="832104" y="5010912"/>
            <a:ext cx="4919472" cy="548639"/>
          </a:xfrm>
          <a:prstGeom prst="rect">
            <a:avLst/>
          </a:prstGeom>
          <a:noFill/>
        </p:spPr>
        <p:txBody>
          <a:bodyPr wrap="square" lIns="54864" tIns="27432" rIns="54864">
            <a:spAutoFit/>
          </a:bodyPr>
          <a:lstStyle/>
          <a:p>
            <a:pPr algn="l"/>
            <a:r>
              <a:rPr sz="1400" b="0">
                <a:solidFill>
                  <a:srgbClr val="64748B"/>
                </a:solidFill>
                <a:latin typeface="Aptos"/>
              </a:rPr>
              <a:t>Baselines (RR / WRR / least-load) -&gt; done</a:t>
            </a:r>
          </a:p>
          <a:p>
            <a:pPr algn="l"/>
            <a:r>
              <a:rPr sz="1400" b="0">
                <a:solidFill>
                  <a:srgbClr val="64748B"/>
                </a:solidFill>
                <a:latin typeface="Aptos"/>
              </a:rPr>
              <a:t>EWMA power-of-two -&gt; done</a:t>
            </a:r>
          </a:p>
          <a:p>
            <a:pPr algn="l"/>
            <a:r>
              <a:rPr sz="1400" b="0">
                <a:solidFill>
                  <a:srgbClr val="64748B"/>
                </a:solidFill>
                <a:latin typeface="Aptos"/>
              </a:rPr>
              <a:t>Signal study (conn, response-time) -&gt; done</a:t>
            </a:r>
          </a:p>
          <a:p>
            <a:pPr algn="l"/>
            <a:r>
              <a:rPr sz="1400" b="0">
                <a:solidFill>
                  <a:srgbClr val="64748B"/>
                </a:solidFill>
                <a:latin typeface="Aptos"/>
              </a:rPr>
              <a:t>Capacity-aware policy + 7-run matrix -&gt; done</a:t>
            </a:r>
          </a:p>
          <a:p>
            <a:pPr algn="l"/>
            <a:r>
              <a:rPr sz="1400" b="0">
                <a:solidFill>
                  <a:srgbClr val="64748B"/>
                </a:solidFill>
                <a:latin typeface="Aptos"/>
              </a:rPr>
              <a:t>Paper, report, review deck -&gt; in progress</a:t>
            </a:r>
          </a:p>
        </p:txBody>
      </p:sp>
      <p:sp>
        <p:nvSpPr>
          <p:cNvPr id="13" name="Rounded Rectangle 12"/>
          <p:cNvSpPr/>
          <p:nvPr/>
        </p:nvSpPr>
        <p:spPr>
          <a:xfrm>
            <a:off x="6126480" y="4572000"/>
            <a:ext cx="5349240" cy="1627632"/>
          </a:xfrm>
          <a:prstGeom prst="roundRect">
            <a:avLst>
              <a:gd name="adj" fmla="val 12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72784" y="4681728"/>
            <a:ext cx="5056631" cy="256032"/>
          </a:xfrm>
          <a:prstGeom prst="rect">
            <a:avLst/>
          </a:prstGeom>
          <a:noFill/>
        </p:spPr>
        <p:txBody>
          <a:bodyPr wrap="square" lIns="54864" tIns="27432" rIns="54864">
            <a:spAutoFit/>
          </a:bodyPr>
          <a:lstStyle/>
          <a:p>
            <a:pPr algn="l"/>
            <a:r>
              <a:rPr sz="1300" b="1">
                <a:solidFill>
                  <a:srgbClr val="2563EB"/>
                </a:solidFill>
                <a:latin typeface="Aptos"/>
              </a:rPr>
              <a:t>REPOSITORY / REFERENCES</a:t>
            </a:r>
          </a:p>
        </p:txBody>
      </p:sp>
      <p:sp>
        <p:nvSpPr>
          <p:cNvPr id="15" name="TextBox 14"/>
          <p:cNvSpPr txBox="1"/>
          <p:nvPr/>
        </p:nvSpPr>
        <p:spPr>
          <a:xfrm>
            <a:off x="6272784" y="5010912"/>
            <a:ext cx="5056631" cy="548639"/>
          </a:xfrm>
          <a:prstGeom prst="rect">
            <a:avLst/>
          </a:prstGeom>
          <a:noFill/>
        </p:spPr>
        <p:txBody>
          <a:bodyPr wrap="square" lIns="54864" tIns="27432" rIns="54864">
            <a:spAutoFit/>
          </a:bodyPr>
          <a:lstStyle/>
          <a:p>
            <a:pPr algn="l"/>
            <a:r>
              <a:rPr sz="1400" b="0" dirty="0">
                <a:solidFill>
                  <a:srgbClr val="64748B"/>
                </a:solidFill>
                <a:latin typeface="Aptos"/>
              </a:rPr>
              <a:t>Repository: </a:t>
            </a:r>
            <a:r>
              <a:rPr sz="1400" b="0" dirty="0" err="1">
                <a:solidFill>
                  <a:srgbClr val="64748B"/>
                </a:solidFill>
                <a:latin typeface="Aptos"/>
              </a:rPr>
              <a:t>github.com</a:t>
            </a:r>
            <a:r>
              <a:rPr sz="1400" b="0" dirty="0">
                <a:solidFill>
                  <a:srgbClr val="64748B"/>
                </a:solidFill>
                <a:latin typeface="Aptos"/>
              </a:rPr>
              <a:t>/</a:t>
            </a:r>
            <a:r>
              <a:rPr sz="1400" b="0" dirty="0" err="1">
                <a:solidFill>
                  <a:srgbClr val="64748B"/>
                </a:solidFill>
                <a:latin typeface="Aptos"/>
              </a:rPr>
              <a:t>fidashameer</a:t>
            </a:r>
            <a:r>
              <a:rPr sz="1400" b="0" dirty="0">
                <a:solidFill>
                  <a:srgbClr val="64748B"/>
                </a:solidFill>
                <a:latin typeface="Aptos"/>
              </a:rPr>
              <a:t>/lightweight-EWMA-based-load-balancer</a:t>
            </a:r>
          </a:p>
          <a:p>
            <a:pPr algn="l"/>
            <a:r>
              <a:rPr sz="1400" b="0" dirty="0">
                <a:solidFill>
                  <a:srgbClr val="64748B"/>
                </a:solidFill>
                <a:latin typeface="Aptos"/>
              </a:rPr>
              <a:t>Full IEEE paper and 7-run result CSVs included in the repo.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58368"/>
            <a:ext cx="11155680" cy="502920"/>
          </a:xfrm>
          <a:prstGeom prst="rect">
            <a:avLst/>
          </a:prstGeom>
          <a:noFill/>
        </p:spPr>
        <p:txBody>
          <a:bodyPr wrap="square" lIns="54864" tIns="27432" rIns="54864">
            <a:spAutoFit/>
          </a:bodyPr>
          <a:lstStyle/>
          <a:p>
            <a:pPr algn="l"/>
            <a:r>
              <a:rPr sz="2600" b="1">
                <a:solidFill>
                  <a:srgbClr val="12223E"/>
                </a:solidFill>
                <a:latin typeface="Aptos"/>
              </a:rPr>
              <a:t>Conclusion and key takeaways</a:t>
            </a:r>
          </a:p>
        </p:txBody>
      </p:sp>
      <p:sp>
        <p:nvSpPr>
          <p:cNvPr id="5" name="Rectangle 4"/>
          <p:cNvSpPr/>
          <p:nvPr/>
        </p:nvSpPr>
        <p:spPr>
          <a:xfrm>
            <a:off x="502920" y="1261872"/>
            <a:ext cx="11155680"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064240" y="6510528"/>
            <a:ext cx="548640" cy="182880"/>
          </a:xfrm>
          <a:prstGeom prst="rect">
            <a:avLst/>
          </a:prstGeom>
          <a:noFill/>
        </p:spPr>
        <p:txBody>
          <a:bodyPr wrap="square" lIns="54864" tIns="27432" rIns="54864">
            <a:spAutoFit/>
          </a:bodyPr>
          <a:lstStyle/>
          <a:p>
            <a:pPr algn="r"/>
            <a:r>
              <a:rPr sz="900" b="1">
                <a:solidFill>
                  <a:srgbClr val="64748B"/>
                </a:solidFill>
                <a:latin typeface="Aptos"/>
              </a:rPr>
              <a:t>12</a:t>
            </a:r>
          </a:p>
        </p:txBody>
      </p:sp>
      <p:sp>
        <p:nvSpPr>
          <p:cNvPr id="8" name="Rounded Rectangle 7"/>
          <p:cNvSpPr/>
          <p:nvPr/>
        </p:nvSpPr>
        <p:spPr>
          <a:xfrm>
            <a:off x="594360" y="1554480"/>
            <a:ext cx="5394960" cy="1645920"/>
          </a:xfrm>
          <a:prstGeom prst="roundRect">
            <a:avLst>
              <a:gd name="adj" fmla="val 12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0664" y="1664207"/>
            <a:ext cx="5102352" cy="256032"/>
          </a:xfrm>
          <a:prstGeom prst="rect">
            <a:avLst/>
          </a:prstGeom>
          <a:noFill/>
        </p:spPr>
        <p:txBody>
          <a:bodyPr wrap="square" lIns="54864" tIns="27432" rIns="54864">
            <a:spAutoFit/>
          </a:bodyPr>
          <a:lstStyle/>
          <a:p>
            <a:pPr algn="l"/>
            <a:r>
              <a:rPr sz="1300" b="1">
                <a:solidFill>
                  <a:srgbClr val="2563EB"/>
                </a:solidFill>
                <a:latin typeface="Aptos"/>
              </a:rPr>
              <a:t>WHAT WAS ACHIEVED?</a:t>
            </a:r>
          </a:p>
        </p:txBody>
      </p:sp>
      <p:sp>
        <p:nvSpPr>
          <p:cNvPr id="10" name="TextBox 9"/>
          <p:cNvSpPr txBox="1"/>
          <p:nvPr/>
        </p:nvSpPr>
        <p:spPr>
          <a:xfrm>
            <a:off x="740664" y="1993391"/>
            <a:ext cx="5102352" cy="1143000"/>
          </a:xfrm>
          <a:prstGeom prst="rect">
            <a:avLst/>
          </a:prstGeom>
          <a:noFill/>
        </p:spPr>
        <p:txBody>
          <a:bodyPr wrap="square" lIns="54864" tIns="27432" rIns="54864">
            <a:spAutoFit/>
          </a:bodyPr>
          <a:lstStyle/>
          <a:p>
            <a:pPr algn="l"/>
            <a:r>
              <a:rPr sz="1400" b="0">
                <a:solidFill>
                  <a:srgbClr val="64748B"/>
                </a:solidFill>
                <a:latin typeface="Aptos"/>
              </a:rPr>
              <a:t>We set out to measure reactive against predictive load balancing and explain the result, and we did.</a:t>
            </a:r>
          </a:p>
          <a:p>
            <a:pPr algn="l"/>
            <a:r>
              <a:rPr sz="1400" b="0">
                <a:solidFill>
                  <a:srgbClr val="64748B"/>
                </a:solidFill>
                <a:latin typeface="Aptos"/>
              </a:rPr>
              <a:t>The strongest evidence is the capacity aware policy: a steady P99 of 48.8ms against about 96ms for round robin, at 100% success over seven runs.</a:t>
            </a:r>
          </a:p>
        </p:txBody>
      </p:sp>
      <p:sp>
        <p:nvSpPr>
          <p:cNvPr id="11" name="Rounded Rectangle 10"/>
          <p:cNvSpPr/>
          <p:nvPr/>
        </p:nvSpPr>
        <p:spPr>
          <a:xfrm>
            <a:off x="6217920" y="1554480"/>
            <a:ext cx="5394960" cy="1645920"/>
          </a:xfrm>
          <a:prstGeom prst="roundRect">
            <a:avLst>
              <a:gd name="adj" fmla="val 12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64224" y="1664207"/>
            <a:ext cx="5102352" cy="256032"/>
          </a:xfrm>
          <a:prstGeom prst="rect">
            <a:avLst/>
          </a:prstGeom>
          <a:noFill/>
        </p:spPr>
        <p:txBody>
          <a:bodyPr wrap="square" lIns="54864" tIns="27432" rIns="54864">
            <a:spAutoFit/>
          </a:bodyPr>
          <a:lstStyle/>
          <a:p>
            <a:pPr algn="l"/>
            <a:r>
              <a:rPr sz="1300" b="1">
                <a:solidFill>
                  <a:srgbClr val="2563EB"/>
                </a:solidFill>
                <a:latin typeface="Aptos"/>
              </a:rPr>
              <a:t>WHAT DID YOU LEARN?</a:t>
            </a:r>
          </a:p>
        </p:txBody>
      </p:sp>
      <p:sp>
        <p:nvSpPr>
          <p:cNvPr id="13" name="TextBox 12"/>
          <p:cNvSpPr txBox="1"/>
          <p:nvPr/>
        </p:nvSpPr>
        <p:spPr>
          <a:xfrm>
            <a:off x="6364224" y="1993391"/>
            <a:ext cx="5102352" cy="1143000"/>
          </a:xfrm>
          <a:prstGeom prst="rect">
            <a:avLst/>
          </a:prstGeom>
          <a:noFill/>
        </p:spPr>
        <p:txBody>
          <a:bodyPr wrap="square" lIns="54864" tIns="27432" rIns="54864">
            <a:spAutoFit/>
          </a:bodyPr>
          <a:lstStyle/>
          <a:p>
            <a:pPr algn="l"/>
            <a:r>
              <a:rPr sz="1400" b="0">
                <a:solidFill>
                  <a:srgbClr val="64748B"/>
                </a:solidFill>
                <a:latin typeface="Aptos"/>
              </a:rPr>
              <a:t>The byte rate signal is misleading for compute bound servers, because an overloaded server sends fewer bytes and looks idle.</a:t>
            </a:r>
          </a:p>
          <a:p>
            <a:pPr algn="l"/>
            <a:r>
              <a:rPr sz="1400" b="0">
                <a:solidFill>
                  <a:srgbClr val="64748B"/>
                </a:solidFill>
                <a:latin typeface="Aptos"/>
              </a:rPr>
              <a:t>Round robin's real strength is that it limits how many requests hit one server at a time, not that it is fair.</a:t>
            </a:r>
          </a:p>
        </p:txBody>
      </p:sp>
      <p:sp>
        <p:nvSpPr>
          <p:cNvPr id="14" name="Rounded Rectangle 13"/>
          <p:cNvSpPr/>
          <p:nvPr/>
        </p:nvSpPr>
        <p:spPr>
          <a:xfrm>
            <a:off x="594360" y="3520440"/>
            <a:ext cx="5394960" cy="1645920"/>
          </a:xfrm>
          <a:prstGeom prst="roundRect">
            <a:avLst>
              <a:gd name="adj" fmla="val 12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0664" y="3630168"/>
            <a:ext cx="5102352" cy="256032"/>
          </a:xfrm>
          <a:prstGeom prst="rect">
            <a:avLst/>
          </a:prstGeom>
          <a:noFill/>
        </p:spPr>
        <p:txBody>
          <a:bodyPr wrap="square" lIns="54864" tIns="27432" rIns="54864">
            <a:spAutoFit/>
          </a:bodyPr>
          <a:lstStyle/>
          <a:p>
            <a:pPr algn="l"/>
            <a:r>
              <a:rPr sz="1300" b="1">
                <a:solidFill>
                  <a:srgbClr val="2563EB"/>
                </a:solidFill>
                <a:latin typeface="Aptos"/>
              </a:rPr>
              <a:t>LIMITATIONS</a:t>
            </a:r>
          </a:p>
        </p:txBody>
      </p:sp>
      <p:sp>
        <p:nvSpPr>
          <p:cNvPr id="16" name="TextBox 15"/>
          <p:cNvSpPr txBox="1"/>
          <p:nvPr/>
        </p:nvSpPr>
        <p:spPr>
          <a:xfrm>
            <a:off x="740664" y="3959352"/>
            <a:ext cx="5102352" cy="1143000"/>
          </a:xfrm>
          <a:prstGeom prst="rect">
            <a:avLst/>
          </a:prstGeom>
          <a:noFill/>
        </p:spPr>
        <p:txBody>
          <a:bodyPr wrap="square" lIns="54864" tIns="27432" rIns="54864">
            <a:spAutoFit/>
          </a:bodyPr>
          <a:lstStyle/>
          <a:p>
            <a:pPr algn="l"/>
            <a:r>
              <a:rPr sz="1400" b="0">
                <a:solidFill>
                  <a:srgbClr val="64748B"/>
                </a:solidFill>
                <a:latin typeface="Aptos"/>
              </a:rPr>
              <a:t>Online service-time estimation is unsolved here; the win assumes known service times and light-enough load.</a:t>
            </a:r>
          </a:p>
        </p:txBody>
      </p:sp>
      <p:sp>
        <p:nvSpPr>
          <p:cNvPr id="17" name="Rounded Rectangle 16"/>
          <p:cNvSpPr/>
          <p:nvPr/>
        </p:nvSpPr>
        <p:spPr>
          <a:xfrm>
            <a:off x="6217920" y="3520440"/>
            <a:ext cx="5394960" cy="1645920"/>
          </a:xfrm>
          <a:prstGeom prst="roundRect">
            <a:avLst>
              <a:gd name="adj" fmla="val 12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64224" y="3630168"/>
            <a:ext cx="5102352" cy="256032"/>
          </a:xfrm>
          <a:prstGeom prst="rect">
            <a:avLst/>
          </a:prstGeom>
          <a:noFill/>
        </p:spPr>
        <p:txBody>
          <a:bodyPr wrap="square" lIns="54864" tIns="27432" rIns="54864">
            <a:spAutoFit/>
          </a:bodyPr>
          <a:lstStyle/>
          <a:p>
            <a:pPr algn="l"/>
            <a:r>
              <a:rPr sz="1300" b="1">
                <a:solidFill>
                  <a:srgbClr val="2563EB"/>
                </a:solidFill>
                <a:latin typeface="Aptos"/>
              </a:rPr>
              <a:t>NEXT STEPS</a:t>
            </a:r>
          </a:p>
        </p:txBody>
      </p:sp>
      <p:sp>
        <p:nvSpPr>
          <p:cNvPr id="19" name="TextBox 18"/>
          <p:cNvSpPr txBox="1"/>
          <p:nvPr/>
        </p:nvSpPr>
        <p:spPr>
          <a:xfrm>
            <a:off x="6364224" y="3959352"/>
            <a:ext cx="5102352" cy="1143000"/>
          </a:xfrm>
          <a:prstGeom prst="rect">
            <a:avLst/>
          </a:prstGeom>
          <a:noFill/>
        </p:spPr>
        <p:txBody>
          <a:bodyPr wrap="square" lIns="54864" tIns="27432" rIns="54864">
            <a:spAutoFit/>
          </a:bodyPr>
          <a:lstStyle/>
          <a:p>
            <a:pPr algn="l"/>
            <a:r>
              <a:rPr sz="1400" b="0">
                <a:solidFill>
                  <a:srgbClr val="64748B"/>
                </a:solidFill>
                <a:latin typeface="Aptos"/>
              </a:rPr>
              <a:t>Estimate service times from flow lifetimes at run time, then combine per-client pinning with admission control.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58368"/>
            <a:ext cx="11155680" cy="502920"/>
          </a:xfrm>
          <a:prstGeom prst="rect">
            <a:avLst/>
          </a:prstGeom>
          <a:noFill/>
        </p:spPr>
        <p:txBody>
          <a:bodyPr wrap="square" lIns="54864" tIns="27432" rIns="54864">
            <a:spAutoFit/>
          </a:bodyPr>
          <a:lstStyle/>
          <a:p>
            <a:pPr algn="l"/>
            <a:r>
              <a:rPr sz="2600" b="1">
                <a:solidFill>
                  <a:srgbClr val="12223E"/>
                </a:solidFill>
                <a:latin typeface="Aptos"/>
              </a:rPr>
              <a:t>References and supporting material</a:t>
            </a:r>
          </a:p>
        </p:txBody>
      </p:sp>
      <p:sp>
        <p:nvSpPr>
          <p:cNvPr id="5" name="Rectangle 4"/>
          <p:cNvSpPr/>
          <p:nvPr/>
        </p:nvSpPr>
        <p:spPr>
          <a:xfrm>
            <a:off x="502920" y="1261872"/>
            <a:ext cx="11155680"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064240" y="6510528"/>
            <a:ext cx="548640" cy="182880"/>
          </a:xfrm>
          <a:prstGeom prst="rect">
            <a:avLst/>
          </a:prstGeom>
          <a:noFill/>
        </p:spPr>
        <p:txBody>
          <a:bodyPr wrap="square" lIns="54864" tIns="27432" rIns="54864">
            <a:spAutoFit/>
          </a:bodyPr>
          <a:lstStyle/>
          <a:p>
            <a:pPr algn="r"/>
            <a:r>
              <a:rPr sz="900" b="1">
                <a:solidFill>
                  <a:srgbClr val="64748B"/>
                </a:solidFill>
                <a:latin typeface="Aptos"/>
              </a:rPr>
              <a:t>13</a:t>
            </a:r>
          </a:p>
        </p:txBody>
      </p:sp>
      <p:sp>
        <p:nvSpPr>
          <p:cNvPr id="8" name="Rounded Rectangle 7"/>
          <p:cNvSpPr/>
          <p:nvPr/>
        </p:nvSpPr>
        <p:spPr>
          <a:xfrm>
            <a:off x="594360" y="1554480"/>
            <a:ext cx="6675120" cy="4114800"/>
          </a:xfrm>
          <a:prstGeom prst="roundRect">
            <a:avLst>
              <a:gd name="adj" fmla="val 12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0664" y="1664207"/>
            <a:ext cx="6382512" cy="256032"/>
          </a:xfrm>
          <a:prstGeom prst="rect">
            <a:avLst/>
          </a:prstGeom>
          <a:noFill/>
        </p:spPr>
        <p:txBody>
          <a:bodyPr wrap="square" lIns="54864" tIns="27432" rIns="54864">
            <a:spAutoFit/>
          </a:bodyPr>
          <a:lstStyle/>
          <a:p>
            <a:pPr algn="l"/>
            <a:r>
              <a:rPr sz="1300" b="1">
                <a:solidFill>
                  <a:srgbClr val="2563EB"/>
                </a:solidFill>
                <a:latin typeface="Aptos"/>
              </a:rPr>
              <a:t>REFERENCES</a:t>
            </a:r>
          </a:p>
        </p:txBody>
      </p:sp>
      <p:sp>
        <p:nvSpPr>
          <p:cNvPr id="10" name="TextBox 9"/>
          <p:cNvSpPr txBox="1"/>
          <p:nvPr/>
        </p:nvSpPr>
        <p:spPr>
          <a:xfrm>
            <a:off x="740664" y="1993391"/>
            <a:ext cx="6382512" cy="3611880"/>
          </a:xfrm>
          <a:prstGeom prst="rect">
            <a:avLst/>
          </a:prstGeom>
          <a:noFill/>
        </p:spPr>
        <p:txBody>
          <a:bodyPr wrap="square" lIns="54864" tIns="27432" rIns="54864">
            <a:spAutoFit/>
          </a:bodyPr>
          <a:lstStyle/>
          <a:p>
            <a:pPr algn="l"/>
            <a:r>
              <a:rPr sz="1400" b="0">
                <a:solidFill>
                  <a:srgbClr val="64748B"/>
                </a:solidFill>
                <a:latin typeface="Aptos"/>
              </a:rPr>
              <a:t>[1] N. McKeown et al., “OpenFlow: Enabling Innovation in Campus Networks,” ACM CCR, 2008.</a:t>
            </a:r>
          </a:p>
          <a:p>
            <a:pPr algn="l"/>
            <a:r>
              <a:rPr sz="1400" b="0">
                <a:solidFill>
                  <a:srgbClr val="64748B"/>
                </a:solidFill>
                <a:latin typeface="Aptos"/>
              </a:rPr>
              <a:t>[2] Open Networking Foundation, “OpenFlow Switch Specification v1.3.”</a:t>
            </a:r>
          </a:p>
          <a:p>
            <a:pPr algn="l"/>
            <a:r>
              <a:rPr sz="1400" b="0">
                <a:solidFill>
                  <a:srgbClr val="64748B"/>
                </a:solidFill>
                <a:latin typeface="Aptos"/>
              </a:rPr>
              <a:t>[3] M. Mitzenmacher, “The Power of Two Choices in Randomized Load Balancing,” IEEE TPDS, 2001.</a:t>
            </a:r>
          </a:p>
          <a:p>
            <a:pPr algn="l"/>
            <a:r>
              <a:rPr sz="1400" b="0">
                <a:solidFill>
                  <a:srgbClr val="64748B"/>
                </a:solidFill>
                <a:latin typeface="Aptos"/>
              </a:rPr>
              <a:t>[4] Prequal: “Load Balancing with Latency-based Probing,” NSDI, 2024.</a:t>
            </a:r>
          </a:p>
          <a:p>
            <a:pPr algn="l"/>
            <a:r>
              <a:rPr sz="1400" b="0">
                <a:solidFill>
                  <a:srgbClr val="64748B"/>
                </a:solidFill>
                <a:latin typeface="Aptos"/>
              </a:rPr>
              <a:t>[5] Mininet, Open vSwitch and Ryu project documentation.</a:t>
            </a:r>
          </a:p>
          <a:p>
            <a:pPr algn="l"/>
            <a:r>
              <a:rPr sz="1400" b="0">
                <a:solidFill>
                  <a:srgbClr val="64748B"/>
                </a:solidFill>
                <a:latin typeface="Aptos"/>
              </a:rPr>
              <a:t>[6] M. Arlitt and T. Jin, “1998 World Cup Web Site Access Logs,” dataset.</a:t>
            </a:r>
          </a:p>
        </p:txBody>
      </p:sp>
      <p:sp>
        <p:nvSpPr>
          <p:cNvPr id="11" name="Rounded Rectangle 10"/>
          <p:cNvSpPr/>
          <p:nvPr/>
        </p:nvSpPr>
        <p:spPr>
          <a:xfrm>
            <a:off x="7498079" y="1554480"/>
            <a:ext cx="4114800" cy="1645920"/>
          </a:xfrm>
          <a:prstGeom prst="roundRect">
            <a:avLst>
              <a:gd name="adj" fmla="val 12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644383" y="1664207"/>
            <a:ext cx="3822191" cy="256032"/>
          </a:xfrm>
          <a:prstGeom prst="rect">
            <a:avLst/>
          </a:prstGeom>
          <a:noFill/>
        </p:spPr>
        <p:txBody>
          <a:bodyPr wrap="square" lIns="54864" tIns="27432" rIns="54864">
            <a:spAutoFit/>
          </a:bodyPr>
          <a:lstStyle/>
          <a:p>
            <a:pPr algn="l"/>
            <a:r>
              <a:rPr sz="1300" b="1">
                <a:solidFill>
                  <a:srgbClr val="2563EB"/>
                </a:solidFill>
                <a:latin typeface="Aptos"/>
              </a:rPr>
              <a:t>APPENDIX / REPOSITORY</a:t>
            </a:r>
          </a:p>
        </p:txBody>
      </p:sp>
      <p:sp>
        <p:nvSpPr>
          <p:cNvPr id="13" name="TextBox 12"/>
          <p:cNvSpPr txBox="1"/>
          <p:nvPr/>
        </p:nvSpPr>
        <p:spPr>
          <a:xfrm>
            <a:off x="7644383" y="1993391"/>
            <a:ext cx="3822191" cy="1143000"/>
          </a:xfrm>
          <a:prstGeom prst="rect">
            <a:avLst/>
          </a:prstGeom>
          <a:noFill/>
        </p:spPr>
        <p:txBody>
          <a:bodyPr wrap="square" lIns="54864" tIns="27432" rIns="54864">
            <a:spAutoFit/>
          </a:bodyPr>
          <a:lstStyle/>
          <a:p>
            <a:pPr algn="l"/>
            <a:r>
              <a:rPr sz="1400" b="0" dirty="0">
                <a:solidFill>
                  <a:srgbClr val="64748B"/>
                </a:solidFill>
                <a:latin typeface="Aptos"/>
              </a:rPr>
              <a:t>Code: </a:t>
            </a:r>
            <a:r>
              <a:rPr sz="1400" b="0" dirty="0" err="1">
                <a:solidFill>
                  <a:srgbClr val="64748B"/>
                </a:solidFill>
                <a:latin typeface="Aptos"/>
              </a:rPr>
              <a:t>github.com</a:t>
            </a:r>
            <a:r>
              <a:rPr sz="1400" b="0" dirty="0">
                <a:solidFill>
                  <a:srgbClr val="64748B"/>
                </a:solidFill>
                <a:latin typeface="Aptos"/>
              </a:rPr>
              <a:t>/</a:t>
            </a:r>
            <a:r>
              <a:rPr sz="1400" b="0" dirty="0" err="1">
                <a:solidFill>
                  <a:srgbClr val="64748B"/>
                </a:solidFill>
                <a:latin typeface="Aptos"/>
              </a:rPr>
              <a:t>fidashameer</a:t>
            </a:r>
            <a:r>
              <a:rPr sz="1400" b="0" dirty="0">
                <a:solidFill>
                  <a:srgbClr val="64748B"/>
                </a:solidFill>
                <a:latin typeface="Aptos"/>
              </a:rPr>
              <a:t>/lightweight-EWMA-based-load-balancer</a:t>
            </a:r>
          </a:p>
          <a:p>
            <a:pPr algn="l"/>
            <a:r>
              <a:rPr sz="1400" b="0" dirty="0">
                <a:solidFill>
                  <a:srgbClr val="64748B"/>
                </a:solidFill>
                <a:latin typeface="Aptos"/>
              </a:rPr>
              <a:t>Results: experiments/results/*.csv (7-run heterogeneous, signals, capacity-aware).</a:t>
            </a:r>
          </a:p>
        </p:txBody>
      </p:sp>
      <p:sp>
        <p:nvSpPr>
          <p:cNvPr id="14" name="Rounded Rectangle 13"/>
          <p:cNvSpPr/>
          <p:nvPr/>
        </p:nvSpPr>
        <p:spPr>
          <a:xfrm>
            <a:off x="7498079" y="3429000"/>
            <a:ext cx="4114800" cy="2011680"/>
          </a:xfrm>
          <a:prstGeom prst="roundRect">
            <a:avLst>
              <a:gd name="adj" fmla="val 12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644383" y="3538728"/>
            <a:ext cx="3822191" cy="256032"/>
          </a:xfrm>
          <a:prstGeom prst="rect">
            <a:avLst/>
          </a:prstGeom>
          <a:noFill/>
        </p:spPr>
        <p:txBody>
          <a:bodyPr wrap="square" lIns="54864" tIns="27432" rIns="54864">
            <a:spAutoFit/>
          </a:bodyPr>
          <a:lstStyle/>
          <a:p>
            <a:pPr algn="l"/>
            <a:r>
              <a:rPr sz="1300" b="1">
                <a:solidFill>
                  <a:srgbClr val="2563EB"/>
                </a:solidFill>
                <a:latin typeface="Aptos"/>
              </a:rPr>
              <a:t>FINAL REVIEW CHECKLIST</a:t>
            </a:r>
          </a:p>
        </p:txBody>
      </p:sp>
      <p:sp>
        <p:nvSpPr>
          <p:cNvPr id="16" name="TextBox 15"/>
          <p:cNvSpPr txBox="1"/>
          <p:nvPr/>
        </p:nvSpPr>
        <p:spPr>
          <a:xfrm>
            <a:off x="7644383" y="3867912"/>
            <a:ext cx="3822191" cy="1508760"/>
          </a:xfrm>
          <a:prstGeom prst="rect">
            <a:avLst/>
          </a:prstGeom>
          <a:noFill/>
        </p:spPr>
        <p:txBody>
          <a:bodyPr wrap="square" lIns="54864" tIns="27432" rIns="54864">
            <a:spAutoFit/>
          </a:bodyPr>
          <a:lstStyle/>
          <a:p>
            <a:pPr algn="l"/>
            <a:r>
              <a:rPr sz="1400" b="0">
                <a:solidFill>
                  <a:srgbClr val="64748B"/>
                </a:solidFill>
                <a:latin typeface="Aptos"/>
              </a:rPr>
              <a:t>[x] Results are measured (not illustrative)</a:t>
            </a:r>
          </a:p>
          <a:p>
            <a:pPr algn="l"/>
            <a:r>
              <a:rPr sz="1400" b="0">
                <a:solidFill>
                  <a:srgbClr val="64748B"/>
                </a:solidFill>
                <a:latin typeface="Aptos"/>
              </a:rPr>
              <a:t>[x] Contributions identified</a:t>
            </a:r>
          </a:p>
          <a:p>
            <a:pPr algn="l"/>
            <a:r>
              <a:rPr sz="1400" b="0">
                <a:solidFill>
                  <a:srgbClr val="64748B"/>
                </a:solidFill>
                <a:latin typeface="Aptos"/>
              </a:rPr>
              <a:t>[x] References verified</a:t>
            </a:r>
          </a:p>
          <a:p>
            <a:pPr algn="l"/>
            <a:r>
              <a:rPr sz="1400" b="0">
                <a:solidFill>
                  <a:srgbClr val="64748B"/>
                </a:solidFill>
                <a:latin typeface="Aptos"/>
              </a:rPr>
              <a:t>[x] Figures readable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2223E"/>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82880"/>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93146" y="2862691"/>
            <a:ext cx="10607040" cy="566309"/>
          </a:xfrm>
          <a:prstGeom prst="rect">
            <a:avLst/>
          </a:prstGeom>
          <a:noFill/>
        </p:spPr>
        <p:txBody>
          <a:bodyPr wrap="square" lIns="54864" tIns="27432" rIns="54864">
            <a:spAutoFit/>
          </a:bodyPr>
          <a:lstStyle/>
          <a:p>
            <a:pPr algn="ctr"/>
            <a:r>
              <a:rPr lang="en-US" sz="3200" i="1" dirty="0">
                <a:solidFill>
                  <a:srgbClr val="FFFFFF"/>
                </a:solidFill>
                <a:latin typeface="Cambria" panose="02040503050406030204" pitchFamily="18" charset="0"/>
                <a:ea typeface="Baskerville" panose="02020502070401020303" pitchFamily="18" charset="0"/>
                <a:cs typeface="APPLE CHANCERY" panose="03020702040506060504" pitchFamily="66" charset="-79"/>
              </a:rPr>
              <a:t>Thank you</a:t>
            </a:r>
            <a:endParaRPr sz="3200" i="1" dirty="0">
              <a:solidFill>
                <a:srgbClr val="FFFFFF"/>
              </a:solidFill>
              <a:latin typeface="Cambria" panose="02040503050406030204" pitchFamily="18" charset="0"/>
              <a:ea typeface="Baskerville" panose="02020502070401020303" pitchFamily="18" charset="0"/>
              <a:cs typeface="APPLE CHANCERY" panose="03020702040506060504" pitchFamily="66" charset="-79"/>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1944</Words>
  <Application>Microsoft Macintosh PowerPoint</Application>
  <PresentationFormat>Widescreen</PresentationFormat>
  <Paragraphs>233</Paragraphs>
  <Slides>14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shameerfida@me.com</cp:lastModifiedBy>
  <cp:revision>4</cp:revision>
  <dcterms:created xsi:type="dcterms:W3CDTF">2013-01-27T09:14:16Z</dcterms:created>
  <dcterms:modified xsi:type="dcterms:W3CDTF">2026-10-28T08:35:40Z</dcterms:modified>
  <cp:category/>
</cp:coreProperties>
</file>